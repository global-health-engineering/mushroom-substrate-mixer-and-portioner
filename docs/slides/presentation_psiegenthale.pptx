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6F_5CD52070.xml" ContentType="application/vnd.ms-powerpoint.comments+xml"/>
  <Override PartName="/ppt/notesSlides/notesSlide2.xml" ContentType="application/vnd.openxmlformats-officedocument.presentationml.notesSlide+xml"/>
  <Override PartName="/ppt/comments/modernComment_139_C621756C.xml" ContentType="application/vnd.ms-powerpoint.comments+xml"/>
  <Override PartName="/ppt/notesSlides/notesSlide3.xml" ContentType="application/vnd.openxmlformats-officedocument.presentationml.notesSlide+xml"/>
  <Override PartName="/ppt/comments/modernComment_15F_CD5CF8B3.xml" ContentType="application/vnd.ms-powerpoint.comments+xml"/>
  <Override PartName="/ppt/notesSlides/notesSlide4.xml" ContentType="application/vnd.openxmlformats-officedocument.presentationml.notesSlide+xml"/>
  <Override PartName="/ppt/comments/modernComment_160_E54957F1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66_6CD6F682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6B_44973810.xml" ContentType="application/vnd.ms-powerpoint.comments+xml"/>
  <Override PartName="/ppt/notesSlides/notesSlide14.xml" ContentType="application/vnd.openxmlformats-officedocument.presentationml.notesSlide+xml"/>
  <Override PartName="/ppt/comments/modernComment_169_83B6FD84.xml" ContentType="application/vnd.ms-powerpoint.comments+xml"/>
  <Override PartName="/ppt/notesSlides/notesSlide15.xml" ContentType="application/vnd.openxmlformats-officedocument.presentationml.notesSlide+xml"/>
  <Override PartName="/ppt/comments/modernComment_168_244BF2CB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159_BD066FA1.xml" ContentType="application/vnd.ms-powerpoint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1" r:id="rId2"/>
  </p:sldMasterIdLst>
  <p:notesMasterIdLst>
    <p:notesMasterId r:id="rId24"/>
  </p:notesMasterIdLst>
  <p:sldIdLst>
    <p:sldId id="256" r:id="rId3"/>
    <p:sldId id="367" r:id="rId4"/>
    <p:sldId id="313" r:id="rId5"/>
    <p:sldId id="351" r:id="rId6"/>
    <p:sldId id="352" r:id="rId7"/>
    <p:sldId id="353" r:id="rId8"/>
    <p:sldId id="343" r:id="rId9"/>
    <p:sldId id="357" r:id="rId10"/>
    <p:sldId id="354" r:id="rId11"/>
    <p:sldId id="355" r:id="rId12"/>
    <p:sldId id="358" r:id="rId13"/>
    <p:sldId id="359" r:id="rId14"/>
    <p:sldId id="344" r:id="rId15"/>
    <p:sldId id="363" r:id="rId16"/>
    <p:sldId id="361" r:id="rId17"/>
    <p:sldId id="360" r:id="rId18"/>
    <p:sldId id="362" r:id="rId19"/>
    <p:sldId id="345" r:id="rId20"/>
    <p:sldId id="364" r:id="rId21"/>
    <p:sldId id="346" r:id="rId22"/>
    <p:sldId id="366" r:id="rId23"/>
  </p:sldIdLst>
  <p:sldSz cx="12187238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0C0708-1657-6149-42A2-9A2A5652FF6C}" name="Peter  Jules" initials="JP" userId="S::jupeter@ethz.ch::7939eb78-9a93-4bd0-b00b-4c1763b491fd" providerId="AD"/>
  <p188:author id="{79AB35CA-B376-C418-5174-2CF6A8AF7FD4}" name="Bernhard Siegenthaler" initials="BS" userId="Bernhard Siegenthaler" providerId="None"/>
  <p188:author id="{85DF35F4-E345-8611-1BF9-59A50B80AA6A}" name="Peter Siegenthaler" initials="PSi" userId="Peter Siegenthal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07A"/>
    <a:srgbClr val="E7E8EC"/>
    <a:srgbClr val="E9A7EB"/>
    <a:srgbClr val="018F8A"/>
    <a:srgbClr val="7FB9AA"/>
    <a:srgbClr val="808080"/>
    <a:srgbClr val="CCCED6"/>
    <a:srgbClr val="E7E8EB"/>
    <a:srgbClr val="B8B8B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684" autoAdjust="0"/>
    <p:restoredTop sz="87500" autoAdjust="0"/>
  </p:normalViewPr>
  <p:slideViewPr>
    <p:cSldViewPr snapToGrid="0">
      <p:cViewPr>
        <p:scale>
          <a:sx n="74" d="100"/>
          <a:sy n="74" d="100"/>
        </p:scale>
        <p:origin x="632" y="6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omments/modernComment_15F_CD5CF8B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AE6B24-D4B4-47C3-92A4-974BDEB6215F}" authorId="{6D0C0708-1657-6149-42A2-9A2A5652FF6C}" created="2026-06-10T05:44:31.55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45422259" sldId="351"/>
      <ac:spMk id="4" creationId="{A059B4E2-F06D-929D-1AC9-953F47A23D86}"/>
      <ac:txMk cp="1" len="22">
        <ac:context len="50" hash="4127010078"/>
      </ac:txMk>
    </ac:txMkLst>
    <p188:pos x="9160018" y="350671"/>
    <p188:txBody>
      <a:bodyPr/>
      <a:lstStyle/>
      <a:p>
        <a:r>
          <a:rPr lang="en-GB"/>
          <a:t>Same here, change the title try to hit the content of the slide a bit better.  E.g. Mushroom cultivation in low-income setting.</a:t>
        </a:r>
      </a:p>
    </p188:txBody>
  </p188:cm>
</p188:cmLst>
</file>

<file path=ppt/comments/modernComment_16B_449738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4D2024-AB6D-4734-9C8A-0F5A83A1DBF2}" authorId="{6D0C0708-1657-6149-42A2-9A2A5652FF6C}" created="2026-06-10T05:49:44.379">
    <pc:sldMkLst xmlns:pc="http://schemas.microsoft.com/office/powerpoint/2013/main/command">
      <pc:docMk/>
      <pc:sldMk cId="1150760976" sldId="363"/>
    </pc:sldMkLst>
    <p188:txBody>
      <a:bodyPr/>
      <a:lstStyle/>
      <a:p>
        <a:r>
          <a:rPr lang="en-GB"/>
          <a:t>Add important results. As text field. 
Like: Homogenous after 3 turns….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6-10T09:04:49.995" authorId="{85DF35F4-E345-8611-1BF9-59A50B80AA6A}"/>
          </p223:rxn>
        </p223:reactions>
      </p:ext>
    </p188:extLst>
  </p188:cm>
</p188:cmLst>
</file>

<file path=ppt/comments/modernComment_16F_5CD520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A4248B-15DB-408B-BBB5-6DE66FA12CEA}" authorId="{6D0C0708-1657-6149-42A2-9A2A5652FF6C}" created="2026-06-10T05:42:15.713">
    <pc:sldMkLst xmlns:pc="http://schemas.microsoft.com/office/powerpoint/2013/main/command">
      <pc:docMk/>
      <pc:sldMk cId="1557471344" sldId="367"/>
    </pc:sldMkLst>
    <p188:txBody>
      <a:bodyPr/>
      <a:lstStyle/>
      <a:p>
        <a:r>
          <a:rPr lang="en-GB"/>
          <a:t>The big blank space looks a bit out of place her but the images a bit up or arrange to make it more aesthethic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6-10T08:36:25.034" authorId="{85DF35F4-E345-8611-1BF9-59A50B80AA6A}"/>
          </p223:rxn>
        </p223:reactions>
      </p:ext>
    </p188:extLst>
  </p188:cm>
</p188:cmLst>
</file>

<file path=ppt/comments/modernComment_139_C62175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BD1F98-C09D-40CD-ACF5-9D741489E1C4}" authorId="{6D0C0708-1657-6149-42A2-9A2A5652FF6C}" created="2026-06-10T05:41:28.366">
    <pc:sldMkLst xmlns:pc="http://schemas.microsoft.com/office/powerpoint/2013/main/command">
      <pc:docMk/>
      <pc:sldMk cId="3324081516" sldId="313"/>
    </pc:sldMkLst>
    <p188:txBody>
      <a:bodyPr/>
      <a:lstStyle/>
      <a:p>
        <a:r>
          <a:rPr lang="en-GB"/>
          <a:t>Change to a positive statment instead of a question. Like benefits of msuhroom farming for development countries</a:t>
        </a:r>
      </a:p>
    </p188:txBody>
  </p188:cm>
</p188:cmLst>
</file>

<file path=ppt/comments/modernComment_159_BD066FA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DED215-742D-41AC-9480-9039BC0E4D7C}" authorId="{6D0C0708-1657-6149-42A2-9A2A5652FF6C}" created="2026-06-10T05:52:17.374">
    <pc:sldMkLst xmlns:pc="http://schemas.microsoft.com/office/powerpoint/2013/main/command">
      <pc:docMk/>
      <pc:sldMk cId="3171315617" sldId="345"/>
    </pc:sldMkLst>
    <p188:txBody>
      <a:bodyPr/>
      <a:lstStyle/>
      <a:p>
        <a:r>
          <a:rPr lang="en-GB"/>
          <a:t>Nice, cool pictures. Also only bit of cosmetics how to arrange the pictures. To make it look more aesthetic.</a:t>
        </a:r>
      </a:p>
    </p188:txBody>
  </p188:cm>
</p188:cmLst>
</file>

<file path=ppt/comments/modernComment_160_E54957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29DC89-835C-42D8-98E4-129DCD412338}" authorId="{6D0C0708-1657-6149-42A2-9A2A5652FF6C}" created="2026-06-10T05:46:28.126">
    <pc:sldMkLst xmlns:pc="http://schemas.microsoft.com/office/powerpoint/2013/main/command">
      <pc:docMk/>
      <pc:sldMk cId="3846789105" sldId="352"/>
    </pc:sldMkLst>
    <p188:txBody>
      <a:bodyPr/>
      <a:lstStyle/>
      <a:p>
        <a:r>
          <a:rPr lang="en-GB"/>
          <a:t>Same here for the title i am not sure if you want to change slide 4 and slide 5. than you can focus on substrate mixing in the (4)-&gt;5 slide.</a:t>
        </a:r>
      </a:p>
    </p188:txBody>
  </p188:cm>
</p188:cmLst>
</file>

<file path=ppt/comments/modernComment_166_6CD6F68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BDC514-62B3-4F83-A0BF-F5F96F9675F8}" authorId="{6D0C0708-1657-6149-42A2-9A2A5652FF6C}" created="2026-06-10T05:48:40.981">
    <pc:sldMkLst xmlns:pc="http://schemas.microsoft.com/office/powerpoint/2013/main/command">
      <pc:docMk/>
      <pc:sldMk cId="1826027138" sldId="358"/>
    </pc:sldMkLst>
    <p188:txBody>
      <a:bodyPr/>
      <a:lstStyle/>
      <a:p>
        <a:r>
          <a:rPr lang="en-GB"/>
          <a:t>I would try to rearrange. But it‘s just cosmetics. Like less empty space between pictures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6-10T08:46:07.788" authorId="{85DF35F4-E345-8611-1BF9-59A50B80AA6A}"/>
          </p223:rxn>
        </p223:reactions>
      </p:ext>
    </p188:extLst>
  </p188:cm>
</p188:cmLst>
</file>

<file path=ppt/comments/modernComment_168_244BF2C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70E4C7-AF05-48FA-B3E5-E964FA1EC0DB}" authorId="{6D0C0708-1657-6149-42A2-9A2A5652FF6C}" created="2026-06-10T05:50:18.450">
    <pc:sldMkLst xmlns:pc="http://schemas.microsoft.com/office/powerpoint/2013/main/command">
      <pc:docMk/>
      <pc:sldMk cId="608957131" sldId="360"/>
    </pc:sldMkLst>
    <p188:txBody>
      <a:bodyPr/>
      <a:lstStyle/>
      <a:p>
        <a:r>
          <a:rPr lang="en-GB"/>
          <a:t>Same here</a:t>
        </a:r>
      </a:p>
    </p188:txBody>
  </p188:cm>
</p188:cmLst>
</file>

<file path=ppt/comments/modernComment_169_83B6FD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651C3E2-141F-4A96-8ED9-8E3BE5A4AE70}" authorId="{6D0C0708-1657-6149-42A2-9A2A5652FF6C}" created="2026-06-10T05:50:05.990">
    <pc:sldMkLst xmlns:pc="http://schemas.microsoft.com/office/powerpoint/2013/main/command">
      <pc:docMk/>
      <pc:sldMk cId="2209807748" sldId="361"/>
    </pc:sldMkLst>
    <p188:txBody>
      <a:bodyPr/>
      <a:lstStyle/>
      <a:p>
        <a:r>
          <a:rPr lang="en-GB"/>
          <a:t>Also here add important result as bullet points
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6-10T09:04:42.996" authorId="{85DF35F4-E345-8611-1BF9-59A50B80AA6A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de-DE" sz="4400" b="0" strike="noStrike" spc="-1">
                <a:latin typeface="Calibri"/>
              </a:rPr>
              <a:t>Click to move the slide</a:t>
            </a: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de-DE" sz="2000" b="0" strike="noStrike" spc="-1">
                <a:latin typeface="Calibri"/>
              </a:rPr>
              <a:t>Click to edit the notes format</a:t>
            </a:r>
          </a:p>
        </p:txBody>
      </p:sp>
      <p:sp>
        <p:nvSpPr>
          <p:cNvPr id="2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de-DE" sz="1400" b="0" strike="noStrike" spc="-1">
                <a:latin typeface="Calibri"/>
              </a:rPr>
              <a:t>&lt;header&gt;</a:t>
            </a:r>
          </a:p>
        </p:txBody>
      </p:sp>
      <p:sp>
        <p:nvSpPr>
          <p:cNvPr id="26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lang="de-DE" sz="1400" b="0" strike="noStrike" spc="-1">
                <a:latin typeface="Calibri"/>
              </a:defRPr>
            </a:lvl1pPr>
          </a:lstStyle>
          <a:p>
            <a:pPr algn="r"/>
            <a:r>
              <a:rPr lang="de-DE" sz="1400" b="0" strike="noStrike" spc="-1">
                <a:latin typeface="Calibri"/>
              </a:rPr>
              <a:t>&lt;date/time&gt;</a:t>
            </a:r>
          </a:p>
        </p:txBody>
      </p:sp>
      <p:sp>
        <p:nvSpPr>
          <p:cNvPr id="26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de-DE" sz="1400" b="0" strike="noStrike" spc="-1">
                <a:latin typeface="Calibri"/>
              </a:defRPr>
            </a:lvl1pPr>
          </a:lstStyle>
          <a:p>
            <a:r>
              <a:rPr lang="de-DE" sz="1400" b="0" strike="noStrike" spc="-1">
                <a:latin typeface="Calibri"/>
              </a:rPr>
              <a:t>&lt;footer&gt;</a:t>
            </a:r>
          </a:p>
        </p:txBody>
      </p:sp>
      <p:sp>
        <p:nvSpPr>
          <p:cNvPr id="26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lang="de-DE" sz="1400" b="0" strike="noStrike" spc="-1">
                <a:latin typeface="Calibri"/>
              </a:defRPr>
            </a:lvl1pPr>
          </a:lstStyle>
          <a:p>
            <a:pPr algn="r"/>
            <a:fld id="{7D8D545F-750E-484B-9AE1-17B524082493}" type="slidenum">
              <a:rPr lang="de-DE" sz="1400" b="0" strike="noStrike" spc="-1">
                <a:latin typeface="Calibri"/>
              </a:rPr>
              <a:t>‹Nr.›</a:t>
            </a:fld>
            <a:endParaRPr lang="de-DE" sz="14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A023-3189-0FAA-F71E-667E3A78C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505561AF-B18B-1889-738B-56BA119F1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B295D177-46D9-01B4-053C-7EA46ADCE5C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3E629326-5203-A283-B122-6A603422BE5A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2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8254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314" name="CustomShape 3"/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3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6435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0BC05-8FF6-5245-544A-25903939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693F5EA0-9F79-FF0F-F558-24CB0006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E300FD40-02A4-E6DA-CB4D-BBEBD328EC8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40FEC180-8021-4C5B-C23A-BDFA91EEB626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4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7241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37ECA-8CEA-199E-E4F5-25C94A34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2A32F9FF-7E70-C335-0921-6C248C8A2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DBA2AC7B-798F-9ADA-B7A9-181BE4D5689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F64D2DAA-1B2C-78E7-DE02-C1F61484D47F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5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6077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A8B2-5701-79B4-A248-D37C2694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1E9CA1CA-C32D-31AA-447B-2B42C9DF1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9F3E0908-1EF6-C8B4-D506-E03860A193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78F511F9-376E-17B9-48A1-416390A1564A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6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5260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/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7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7572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7CC5-F811-72E6-060C-02FEC378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216B5AD9-A39E-7A9C-ADC0-379461A52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4D33C72A-0CFE-2AE4-FAF3-140F442E571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18A74161-EC70-CBDE-9D13-88E14BA1BAFD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8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5032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B1B79-BED6-A1E4-0394-8AC84878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A775CC59-57C0-78F8-8952-89058D4AC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580A2A98-F5B6-A9CA-94D2-C88456F4268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D8E7C21F-E0F8-DF62-B268-C553E49D2036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9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0971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8A09C-3254-347F-E854-4940FFFF8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3D6E4AFD-8851-3795-B603-1A3C99C1F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14C092C5-9E3F-00F3-6574-CA18B0AB854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6A546BC9-B684-603A-82FD-2DF3527BE167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10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249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1006-D5DB-7CF2-16E5-4386865C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9D75276F-BF42-F7E2-55D0-C39209254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BF833B78-CEE9-03E6-2FAE-EF2CDF72572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5ABB7E9C-3C9C-98A8-3A34-7E472DC2B40A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11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7132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205D-A47C-EED8-C048-CFC8D476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C3A6CF66-D49A-709F-AA27-F8EFD8AC8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02CE0C61-F4AF-6F05-E35F-C9D57BBFEB1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F5DFEC7F-543B-1212-8D25-C3CE3D44BE55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12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08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/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13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9479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828E-01E9-2FB6-C99C-CA31FDC5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6EBBC115-E140-6F11-B1D2-F518DA3D7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4C04A4D2-CC1D-2987-9885-15E44E1F95D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F7613A7E-D373-216E-8C19-F2296BA6289C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14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671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DB5F-CACD-1DFC-D38E-8ECA464E9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63C9FED0-599D-E78F-A46F-4E12BD097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B081F254-643E-2D25-98E5-0CDDB977F0E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33F1701D-476E-9287-CA0D-A70A0FF1B884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15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499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FDA44-E051-10F9-F338-4B101733C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C0138F65-DB6B-D262-0F89-E1A063F09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89C6B611-1634-09D3-2F71-D28AB842883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D7E2ADE8-A6B1-C105-23B3-9768E60E03D3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16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3757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8C58C-3D6B-8966-E5C7-F72AD63C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5B5CB740-1655-D3A6-D29F-A02C8A60C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DD222B0B-BBF7-9554-4BB1-C5631531F0A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3E4D3CFB-9185-9130-E3D7-AE67E55F1463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17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31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/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18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4035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8E5E0-7547-3DC9-8741-9F7CBFEC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BC95B89A-1250-DFA1-A528-E397C3BA9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0CF4C648-F416-8ED7-BF40-6E87D5985BC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6269B0CF-DEE7-6CF0-6940-8A2C2CFF0BA5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19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943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0E1D3-70C2-04E0-22ED-7DD3D4721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>
            <a:extLst>
              <a:ext uri="{FF2B5EF4-FFF2-40B4-BE49-F238E27FC236}">
                <a16:creationId xmlns:a16="http://schemas.microsoft.com/office/drawing/2014/main" id="{7A0A282F-2B0B-417D-95E9-7C82C37EC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5137" cy="3835400"/>
          </a:xfrm>
          <a:prstGeom prst="rect">
            <a:avLst/>
          </a:prstGeom>
        </p:spPr>
      </p:sp>
      <p:sp>
        <p:nvSpPr>
          <p:cNvPr id="313" name="PlaceHolder 2">
            <a:extLst>
              <a:ext uri="{FF2B5EF4-FFF2-40B4-BE49-F238E27FC236}">
                <a16:creationId xmlns:a16="http://schemas.microsoft.com/office/drawing/2014/main" id="{BAAC45E7-346E-BA09-C47B-9F143ABE3ED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09920" y="4861440"/>
            <a:ext cx="5678280" cy="4604400"/>
          </a:xfrm>
          <a:prstGeom prst="rect">
            <a:avLst/>
          </a:prstGeom>
        </p:spPr>
        <p:txBody>
          <a:bodyPr lIns="99000" tIns="49680" rIns="99000" bIns="49680">
            <a:noAutofit/>
          </a:bodyPr>
          <a:lstStyle/>
          <a:p>
            <a:pPr marL="0" indent="0">
              <a:buFontTx/>
              <a:buNone/>
            </a:pPr>
            <a:endParaRPr lang="de-DE" sz="2000" b="0" strike="noStrike" spc="-1" dirty="0">
              <a:latin typeface="Calibri"/>
            </a:endParaRPr>
          </a:p>
        </p:txBody>
      </p:sp>
      <p:sp>
        <p:nvSpPr>
          <p:cNvPr id="314" name="CustomShape 3">
            <a:extLst>
              <a:ext uri="{FF2B5EF4-FFF2-40B4-BE49-F238E27FC236}">
                <a16:creationId xmlns:a16="http://schemas.microsoft.com/office/drawing/2014/main" id="{70754B13-4B6A-3FEA-C821-FA998009D754}"/>
              </a:ext>
            </a:extLst>
          </p:cNvPr>
          <p:cNvSpPr/>
          <p:nvPr/>
        </p:nvSpPr>
        <p:spPr>
          <a:xfrm>
            <a:off x="4021200" y="9721080"/>
            <a:ext cx="3075120" cy="51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000" tIns="49680" rIns="99000" bIns="49680" anchor="b">
            <a:noAutofit/>
          </a:bodyPr>
          <a:lstStyle/>
          <a:p>
            <a:pPr algn="r">
              <a:lnSpc>
                <a:spcPct val="100000"/>
              </a:lnSpc>
            </a:pPr>
            <a:fld id="{3A3DF49B-7B65-46A6-BB01-04CA51CE4983}" type="slidenum">
              <a:rPr lang="de-DE" sz="1300" b="0" strike="noStrike" spc="-1">
                <a:solidFill>
                  <a:srgbClr val="000000"/>
                </a:solidFill>
                <a:latin typeface="Arial"/>
                <a:ea typeface="+mn-ea"/>
              </a:rPr>
              <a:t>21</a:t>
            </a:fld>
            <a:endParaRPr lang="de-DE" sz="13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8621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F30BDF-0085-BEEE-A44B-4ED0D94D2089}"/>
              </a:ext>
            </a:extLst>
          </p:cNvPr>
          <p:cNvSpPr/>
          <p:nvPr userDrawn="1"/>
        </p:nvSpPr>
        <p:spPr>
          <a:xfrm>
            <a:off x="0" y="603849"/>
            <a:ext cx="12187238" cy="379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85334F-37D0-55BB-4563-90ABA33F9713}"/>
              </a:ext>
            </a:extLst>
          </p:cNvPr>
          <p:cNvSpPr/>
          <p:nvPr userDrawn="1"/>
        </p:nvSpPr>
        <p:spPr>
          <a:xfrm>
            <a:off x="228600" y="6254151"/>
            <a:ext cx="11958637" cy="569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3421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F30BDF-0085-BEEE-A44B-4ED0D94D2089}"/>
              </a:ext>
            </a:extLst>
          </p:cNvPr>
          <p:cNvSpPr/>
          <p:nvPr userDrawn="1"/>
        </p:nvSpPr>
        <p:spPr>
          <a:xfrm>
            <a:off x="0" y="0"/>
            <a:ext cx="12187238" cy="6858000"/>
          </a:xfrm>
          <a:prstGeom prst="rect">
            <a:avLst/>
          </a:prstGeom>
          <a:solidFill>
            <a:srgbClr val="1F40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3A0F9662-8F78-CD2E-4F94-83371C9881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973" y="2644219"/>
            <a:ext cx="4357291" cy="156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60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776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22908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22908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31748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802548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body"/>
          </p:nvPr>
        </p:nvSpPr>
        <p:spPr>
          <a:xfrm>
            <a:off x="431748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body"/>
          </p:nvPr>
        </p:nvSpPr>
        <p:spPr>
          <a:xfrm>
            <a:off x="802548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776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22908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77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29080" y="160452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6229080" y="3682080"/>
            <a:ext cx="53521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de-DE" sz="4400" b="0" strike="noStrike" spc="-1"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31748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8025480" y="160452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body"/>
          </p:nvPr>
        </p:nvSpPr>
        <p:spPr>
          <a:xfrm>
            <a:off x="431748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 type="body"/>
          </p:nvPr>
        </p:nvSpPr>
        <p:spPr>
          <a:xfrm>
            <a:off x="8025480" y="3682080"/>
            <a:ext cx="3531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552" y="1016000"/>
            <a:ext cx="1072413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1694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marL="0" indent="0" algn="l">
              <a:lnSpc>
                <a:spcPct val="100000"/>
              </a:lnSpc>
              <a:defRPr sz="3599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Mastertitelformat bearbeiten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53" y="360538"/>
            <a:ext cx="176487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96179" y="6489088"/>
            <a:ext cx="1259508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095" y="3860495"/>
            <a:ext cx="4678172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59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7948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54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5894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2662" y="316800"/>
            <a:ext cx="1799297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472855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pos="61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25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2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3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4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5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7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8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9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11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grpSp>
        <p:nvGrpSpPr>
          <p:cNvPr id="14" name="Group 15"/>
          <p:cNvGrpSpPr/>
          <p:nvPr/>
        </p:nvGrpSpPr>
        <p:grpSpPr>
          <a:xfrm>
            <a:off x="144360" y="152280"/>
            <a:ext cx="11896920" cy="611640"/>
            <a:chOff x="144360" y="152280"/>
            <a:chExt cx="11896920" cy="611640"/>
          </a:xfrm>
        </p:grpSpPr>
        <p:sp>
          <p:nvSpPr>
            <p:cNvPr id="15" name="CustomShape 16"/>
            <p:cNvSpPr/>
            <p:nvPr/>
          </p:nvSpPr>
          <p:spPr>
            <a:xfrm>
              <a:off x="144360" y="152280"/>
              <a:ext cx="11895480" cy="47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CustomShape 17"/>
            <p:cNvSpPr/>
            <p:nvPr/>
          </p:nvSpPr>
          <p:spPr>
            <a:xfrm>
              <a:off x="144360" y="597600"/>
              <a:ext cx="185400" cy="166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CustomShape 18"/>
            <p:cNvSpPr/>
            <p:nvPr/>
          </p:nvSpPr>
          <p:spPr>
            <a:xfrm>
              <a:off x="11855160" y="597600"/>
              <a:ext cx="186120" cy="166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18" name="CustomShape 19"/>
          <p:cNvSpPr/>
          <p:nvPr/>
        </p:nvSpPr>
        <p:spPr>
          <a:xfrm>
            <a:off x="11536200" y="6300360"/>
            <a:ext cx="1400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|</a:t>
            </a:r>
            <a:endParaRPr lang="de-DE" sz="800" b="0" strike="noStrike" spc="-1">
              <a:latin typeface="Calibri"/>
            </a:endParaRPr>
          </a:p>
        </p:txBody>
      </p:sp>
      <p:sp>
        <p:nvSpPr>
          <p:cNvPr id="19" name="CustomShape 20"/>
          <p:cNvSpPr/>
          <p:nvPr/>
        </p:nvSpPr>
        <p:spPr>
          <a:xfrm>
            <a:off x="10779120" y="6300360"/>
            <a:ext cx="1400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|</a:t>
            </a:r>
            <a:endParaRPr lang="de-DE" sz="800" b="0" strike="noStrike" spc="-1">
              <a:latin typeface="Calibri"/>
            </a:endParaRPr>
          </a:p>
        </p:txBody>
      </p:sp>
      <p:pic>
        <p:nvPicPr>
          <p:cNvPr id="20" name="Bild 18"/>
          <p:cNvPicPr/>
          <p:nvPr/>
        </p:nvPicPr>
        <p:blipFill>
          <a:blip r:embed="rId16"/>
          <a:stretch/>
        </p:blipFill>
        <p:spPr>
          <a:xfrm>
            <a:off x="324000" y="306000"/>
            <a:ext cx="969840" cy="157320"/>
          </a:xfrm>
          <a:prstGeom prst="rect">
            <a:avLst/>
          </a:prstGeom>
          <a:ln>
            <a:noFill/>
          </a:ln>
        </p:spPr>
      </p:pic>
      <p:pic>
        <p:nvPicPr>
          <p:cNvPr id="21" name="Picture 8"/>
          <p:cNvPicPr/>
          <p:nvPr/>
        </p:nvPicPr>
        <p:blipFill>
          <a:blip r:embed="rId17"/>
          <a:stretch/>
        </p:blipFill>
        <p:spPr>
          <a:xfrm>
            <a:off x="321840" y="6397560"/>
            <a:ext cx="1234440" cy="293040"/>
          </a:xfrm>
          <a:prstGeom prst="rect">
            <a:avLst/>
          </a:prstGeom>
          <a:ln>
            <a:noFill/>
          </a:ln>
        </p:spPr>
      </p:pic>
      <p:sp>
        <p:nvSpPr>
          <p:cNvPr id="22" name="PlaceHolder 2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de-DE" sz="44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23" name="PlaceHolder 2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1" r:id="rId2"/>
    <p:sldLayoutId id="2147483702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1"/>
          <p:cNvGrpSpPr/>
          <p:nvPr/>
        </p:nvGrpSpPr>
        <p:grpSpPr>
          <a:xfrm>
            <a:off x="-377640" y="-384840"/>
            <a:ext cx="12418560" cy="7159320"/>
            <a:chOff x="-377640" y="-384840"/>
            <a:chExt cx="12418560" cy="7159320"/>
          </a:xfrm>
        </p:grpSpPr>
        <p:sp>
          <p:nvSpPr>
            <p:cNvPr id="61" name="Line 2"/>
            <p:cNvSpPr/>
            <p:nvPr/>
          </p:nvSpPr>
          <p:spPr>
            <a:xfrm flipH="1">
              <a:off x="3214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2" name="Line 3"/>
            <p:cNvSpPr/>
            <p:nvPr/>
          </p:nvSpPr>
          <p:spPr>
            <a:xfrm flipH="1">
              <a:off x="1185876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3" name="Line 4"/>
            <p:cNvSpPr/>
            <p:nvPr/>
          </p:nvSpPr>
          <p:spPr>
            <a:xfrm>
              <a:off x="-377640" y="342684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4" name="Line 5"/>
            <p:cNvSpPr/>
            <p:nvPr/>
          </p:nvSpPr>
          <p:spPr>
            <a:xfrm>
              <a:off x="-377640" y="76248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5" name="Line 6"/>
            <p:cNvSpPr/>
            <p:nvPr/>
          </p:nvSpPr>
          <p:spPr>
            <a:xfrm>
              <a:off x="-377640" y="63046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6" name="Line 7"/>
            <p:cNvSpPr/>
            <p:nvPr/>
          </p:nvSpPr>
          <p:spPr>
            <a:xfrm>
              <a:off x="-377640" y="62370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7" name="Line 8"/>
            <p:cNvSpPr/>
            <p:nvPr/>
          </p:nvSpPr>
          <p:spPr>
            <a:xfrm>
              <a:off x="-377640" y="677448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8" name="Line 9"/>
            <p:cNvSpPr/>
            <p:nvPr/>
          </p:nvSpPr>
          <p:spPr>
            <a:xfrm flipH="1">
              <a:off x="609408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69" name="Line 10"/>
            <p:cNvSpPr/>
            <p:nvPr/>
          </p:nvSpPr>
          <p:spPr>
            <a:xfrm>
              <a:off x="-377640" y="619200"/>
              <a:ext cx="262800" cy="144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70" name="Line 11"/>
            <p:cNvSpPr/>
            <p:nvPr/>
          </p:nvSpPr>
          <p:spPr>
            <a:xfrm>
              <a:off x="-377640" y="2020320"/>
              <a:ext cx="26244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71" name="Line 12"/>
            <p:cNvSpPr/>
            <p:nvPr/>
          </p:nvSpPr>
          <p:spPr>
            <a:xfrm>
              <a:off x="-377640" y="4831200"/>
              <a:ext cx="262800" cy="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72" name="Line 13"/>
            <p:cNvSpPr/>
            <p:nvPr/>
          </p:nvSpPr>
          <p:spPr>
            <a:xfrm flipH="1">
              <a:off x="141840" y="-384840"/>
              <a:ext cx="72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  <p:sp>
          <p:nvSpPr>
            <p:cNvPr id="73" name="Line 14"/>
            <p:cNvSpPr/>
            <p:nvPr/>
          </p:nvSpPr>
          <p:spPr>
            <a:xfrm flipH="1">
              <a:off x="12039840" y="-384840"/>
              <a:ext cx="1080" cy="262800"/>
            </a:xfrm>
            <a:prstGeom prst="line">
              <a:avLst/>
            </a:prstGeom>
            <a:ln w="6480">
              <a:solidFill>
                <a:srgbClr val="FF006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78" name="CustomShape 19"/>
          <p:cNvSpPr/>
          <p:nvPr/>
        </p:nvSpPr>
        <p:spPr>
          <a:xfrm>
            <a:off x="11536200" y="6300360"/>
            <a:ext cx="1400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|</a:t>
            </a:r>
            <a:endParaRPr lang="de-DE" sz="800" b="0" strike="noStrike" spc="-1">
              <a:latin typeface="Calibri"/>
            </a:endParaRPr>
          </a:p>
        </p:txBody>
      </p:sp>
      <p:sp>
        <p:nvSpPr>
          <p:cNvPr id="79" name="CustomShape 20"/>
          <p:cNvSpPr/>
          <p:nvPr/>
        </p:nvSpPr>
        <p:spPr>
          <a:xfrm>
            <a:off x="10779120" y="6300360"/>
            <a:ext cx="1400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36000" tIns="45000" rIns="36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  <a:ea typeface="DejaVu Sans"/>
              </a:rPr>
              <a:t>|</a:t>
            </a:r>
            <a:endParaRPr lang="de-DE" sz="800" b="0" strike="noStrike" spc="-1">
              <a:latin typeface="Calibri"/>
            </a:endParaRPr>
          </a:p>
        </p:txBody>
      </p:sp>
      <p:pic>
        <p:nvPicPr>
          <p:cNvPr id="80" name="Bild 18"/>
          <p:cNvPicPr/>
          <p:nvPr/>
        </p:nvPicPr>
        <p:blipFill>
          <a:blip r:embed="rId15"/>
          <a:stretch/>
        </p:blipFill>
        <p:spPr>
          <a:xfrm>
            <a:off x="324000" y="306000"/>
            <a:ext cx="969840" cy="157320"/>
          </a:xfrm>
          <a:prstGeom prst="rect">
            <a:avLst/>
          </a:prstGeom>
          <a:ln>
            <a:noFill/>
          </a:ln>
        </p:spPr>
      </p:pic>
      <p:pic>
        <p:nvPicPr>
          <p:cNvPr id="81" name="Picture 8"/>
          <p:cNvPicPr/>
          <p:nvPr/>
        </p:nvPicPr>
        <p:blipFill>
          <a:blip r:embed="rId16"/>
          <a:stretch/>
        </p:blipFill>
        <p:spPr>
          <a:xfrm>
            <a:off x="321840" y="6397560"/>
            <a:ext cx="1234440" cy="293040"/>
          </a:xfrm>
          <a:prstGeom prst="rect">
            <a:avLst/>
          </a:prstGeom>
          <a:ln>
            <a:noFill/>
          </a:ln>
        </p:spPr>
      </p:pic>
      <p:sp>
        <p:nvSpPr>
          <p:cNvPr id="82" name="PlaceHolder 2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77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de-DE" sz="4400" b="0" strike="noStrike" spc="-1">
                <a:latin typeface="Calibri"/>
              </a:rPr>
              <a:t>Click to edit the title text format</a:t>
            </a:r>
          </a:p>
        </p:txBody>
      </p:sp>
      <p:sp>
        <p:nvSpPr>
          <p:cNvPr id="83" name="PlaceHolder 2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77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strike="noStrike" spc="-1"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strike="noStrike" spc="-1"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strike="noStrike" spc="-1"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70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F_5CD52070.xml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jpe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9_C621756C.xml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F_CD5CF8B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0_E54957F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gif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gif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6_6CD6F682.xml"/><Relationship Id="rId7" Type="http://schemas.openxmlformats.org/officeDocument/2006/relationships/image" Target="../media/image2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gif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6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B_449738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9_83B6FD8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8_244BF2CB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9_BD066FA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233538"/>
            <a:ext cx="7723415" cy="2772000"/>
          </a:xfrm>
        </p:spPr>
        <p:txBody>
          <a:bodyPr/>
          <a:lstStyle/>
          <a:p>
            <a:r>
              <a:rPr lang="en-US" sz="2800" dirty="0">
                <a:latin typeface="+mj-ea"/>
                <a:cs typeface="Times New Roman" panose="02020603050405020304" pitchFamily="18" charset="0"/>
              </a:rPr>
              <a:t>Product Development of a Substrate Mixer and Portioning Device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+mn-ea"/>
                <a:cs typeface="Times New Roman" panose="02020603050405020304" pitchFamily="18" charset="0"/>
              </a:rPr>
              <a:t>Peter Siegenthaler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+mn-ea"/>
                <a:cs typeface="Times New Roman" panose="02020603050405020304" pitchFamily="18" charset="0"/>
              </a:rPr>
              <a:t>Bachelor’s thesis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+mn-ea"/>
                <a:cs typeface="Times New Roman" panose="02020603050405020304" pitchFamily="18" charset="0"/>
              </a:rPr>
              <a:t>11.06.2026</a:t>
            </a: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F07C3162-2753-EE68-4CD3-E93ACC4976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006" y="345057"/>
            <a:ext cx="1391854" cy="350782"/>
          </a:xfrm>
          <a:prstGeom prst="rect">
            <a:avLst/>
          </a:prstGeom>
        </p:spPr>
      </p:pic>
      <p:sp>
        <p:nvSpPr>
          <p:cNvPr id="10" name="CustomShape 4">
            <a:extLst>
              <a:ext uri="{FF2B5EF4-FFF2-40B4-BE49-F238E27FC236}">
                <a16:creationId xmlns:a16="http://schemas.microsoft.com/office/drawing/2014/main" id="{CDEF5623-358F-AA24-4A4A-4E069C364C9D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60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9099B-D847-54CA-6B35-BFC62009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AB19F54E-217E-5438-96B3-2132D0CDB103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b="0" strike="noStrike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1919A3A3-3F6A-FE65-1762-5E807AC02D22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de-DE" sz="800" b="0" strike="noStrike" spc="-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2</a:t>
            </a:fld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8F2560C5-5282-8322-77F4-4750390C20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8C526307-14E2-B2FD-2FD1-763F71BE39EA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9281153B-C462-2677-B004-1F1308E9655E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550402BF-16FC-1C14-BAAE-3582C52BDB36}"/>
              </a:ext>
            </a:extLst>
          </p:cNvPr>
          <p:cNvSpPr/>
          <p:nvPr/>
        </p:nvSpPr>
        <p:spPr bwMode="auto">
          <a:xfrm>
            <a:off x="2634830" y="614663"/>
            <a:ext cx="2306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F71A3EFA-0B2E-43DC-247E-7AB541FC6EF5}"/>
              </a:ext>
            </a:extLst>
          </p:cNvPr>
          <p:cNvSpPr/>
          <p:nvPr/>
        </p:nvSpPr>
        <p:spPr bwMode="auto">
          <a:xfrm>
            <a:off x="4941000" y="614663"/>
            <a:ext cx="2340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185375C5-9138-44CF-10CD-53B6345B1773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622168F6-F3C6-261E-2126-FDC45C9F42E2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889015CF-4A5C-8F2A-55CC-CD985DB79F62}"/>
              </a:ext>
            </a:extLst>
          </p:cNvPr>
          <p:cNvSpPr/>
          <p:nvPr/>
        </p:nvSpPr>
        <p:spPr>
          <a:xfrm>
            <a:off x="169333" y="971502"/>
            <a:ext cx="9445082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Substrate for mushroom cultivation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4C3D30B-7A63-286E-14AE-AC219EE6B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3" r="17437"/>
          <a:stretch>
            <a:fillRect/>
          </a:stretch>
        </p:blipFill>
        <p:spPr>
          <a:xfrm>
            <a:off x="345080" y="2783665"/>
            <a:ext cx="3355345" cy="2657770"/>
          </a:xfrm>
          <a:prstGeom prst="rect">
            <a:avLst/>
          </a:prstGeom>
        </p:spPr>
      </p:pic>
      <p:sp>
        <p:nvSpPr>
          <p:cNvPr id="29" name="CustomShape 9">
            <a:extLst>
              <a:ext uri="{FF2B5EF4-FFF2-40B4-BE49-F238E27FC236}">
                <a16:creationId xmlns:a16="http://schemas.microsoft.com/office/drawing/2014/main" id="{BF55D80A-58D7-9B27-848A-4EA672B49224}"/>
              </a:ext>
            </a:extLst>
          </p:cNvPr>
          <p:cNvSpPr/>
          <p:nvPr/>
        </p:nvSpPr>
        <p:spPr>
          <a:xfrm>
            <a:off x="568863" y="1973846"/>
            <a:ext cx="2879279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spc="-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Mix and water a</a:t>
            </a:r>
            <a:r>
              <a:rPr lang="en-US" sz="1600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gricultural waste products</a:t>
            </a:r>
            <a:endParaRPr lang="en-US" sz="1600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BE53668-5698-C80B-BAA8-7032B363FE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386" y="2783665"/>
            <a:ext cx="3560183" cy="267013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619D875-311C-0832-3241-BB8EC20D528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29" t="5208" r="14190" b="23757"/>
          <a:stretch>
            <a:fillRect/>
          </a:stretch>
        </p:blipFill>
        <p:spPr>
          <a:xfrm>
            <a:off x="9442779" y="2876130"/>
            <a:ext cx="2359102" cy="2694925"/>
          </a:xfrm>
          <a:prstGeom prst="rect">
            <a:avLst/>
          </a:prstGeom>
        </p:spPr>
      </p:pic>
      <p:sp>
        <p:nvSpPr>
          <p:cNvPr id="10" name="Pfeil nach rechts 9">
            <a:extLst>
              <a:ext uri="{FF2B5EF4-FFF2-40B4-BE49-F238E27FC236}">
                <a16:creationId xmlns:a16="http://schemas.microsoft.com/office/drawing/2014/main" id="{F9A50ABD-576F-13D5-FF57-919332C40177}"/>
              </a:ext>
            </a:extLst>
          </p:cNvPr>
          <p:cNvSpPr/>
          <p:nvPr/>
        </p:nvSpPr>
        <p:spPr>
          <a:xfrm>
            <a:off x="3686176" y="3633499"/>
            <a:ext cx="1098210" cy="1180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Pfeil nach rechts 13">
            <a:extLst>
              <a:ext uri="{FF2B5EF4-FFF2-40B4-BE49-F238E27FC236}">
                <a16:creationId xmlns:a16="http://schemas.microsoft.com/office/drawing/2014/main" id="{FE9DA42A-5D8B-D6D3-B85A-56D5EDB7A253}"/>
              </a:ext>
            </a:extLst>
          </p:cNvPr>
          <p:cNvSpPr/>
          <p:nvPr/>
        </p:nvSpPr>
        <p:spPr>
          <a:xfrm>
            <a:off x="8330320" y="3543444"/>
            <a:ext cx="1098210" cy="1180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CustomShape 9">
            <a:extLst>
              <a:ext uri="{FF2B5EF4-FFF2-40B4-BE49-F238E27FC236}">
                <a16:creationId xmlns:a16="http://schemas.microsoft.com/office/drawing/2014/main" id="{243EC1B2-5E3F-208A-26B0-2CAA119C3C92}"/>
              </a:ext>
            </a:extLst>
          </p:cNvPr>
          <p:cNvSpPr/>
          <p:nvPr/>
        </p:nvSpPr>
        <p:spPr>
          <a:xfrm>
            <a:off x="5185835" y="1945038"/>
            <a:ext cx="275728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spc="-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Bag, p</a:t>
            </a:r>
            <a:r>
              <a:rPr lang="en-US" sz="1600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asteurize and insert mushroom spawn</a:t>
            </a:r>
            <a:endParaRPr lang="en-US" sz="1600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8" name="CustomShape 9">
            <a:extLst>
              <a:ext uri="{FF2B5EF4-FFF2-40B4-BE49-F238E27FC236}">
                <a16:creationId xmlns:a16="http://schemas.microsoft.com/office/drawing/2014/main" id="{BD7142DC-EEF6-B5FC-B5AC-BC095F55E672}"/>
              </a:ext>
            </a:extLst>
          </p:cNvPr>
          <p:cNvSpPr/>
          <p:nvPr/>
        </p:nvSpPr>
        <p:spPr>
          <a:xfrm>
            <a:off x="9360410" y="1990536"/>
            <a:ext cx="252384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spc="-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Harvest e</a:t>
            </a:r>
            <a:r>
              <a:rPr lang="en-US" sz="1600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dible mushrooms</a:t>
            </a:r>
            <a:endParaRPr lang="en-US" sz="1600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4713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6" grpId="0"/>
      <p:bldP spid="18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/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b="0" strike="noStrike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/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de-DE" sz="800" b="0" strike="noStrike" spc="-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3</a:t>
            </a:fld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81" name="CustomShape 7"/>
          <p:cNvSpPr/>
          <p:nvPr/>
        </p:nvSpPr>
        <p:spPr>
          <a:xfrm>
            <a:off x="4653360" y="2528640"/>
            <a:ext cx="287928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7D86FB9D-1F62-0B9D-7AB6-ACCC33B125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372FCC1A-8241-C22E-6411-BD1E675BC471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7135298B-1A44-0AE7-5BEA-4F5C1D268381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BE22D1D8-2B29-85DF-79A3-1EE423C4DBB9}"/>
              </a:ext>
            </a:extLst>
          </p:cNvPr>
          <p:cNvSpPr/>
          <p:nvPr/>
        </p:nvSpPr>
        <p:spPr bwMode="auto">
          <a:xfrm>
            <a:off x="2634830" y="614663"/>
            <a:ext cx="2306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BFBB22E8-9859-6E55-1169-2024119C8E35}"/>
              </a:ext>
            </a:extLst>
          </p:cNvPr>
          <p:cNvSpPr/>
          <p:nvPr/>
        </p:nvSpPr>
        <p:spPr bwMode="auto">
          <a:xfrm>
            <a:off x="4941000" y="614663"/>
            <a:ext cx="2340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65D09DE9-5EC3-4E05-654F-0B5EED21B301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5363B84B-8AEA-0693-21A5-C10B86623107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4B5EAC26-760B-EDC8-51B6-D1C85DBB7F59}"/>
              </a:ext>
            </a:extLst>
          </p:cNvPr>
          <p:cNvSpPr/>
          <p:nvPr/>
        </p:nvSpPr>
        <p:spPr>
          <a:xfrm>
            <a:off x="169333" y="971502"/>
            <a:ext cx="9445082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Benefits of mushrooms cultivation in developing countries</a:t>
            </a:r>
          </a:p>
        </p:txBody>
      </p:sp>
      <p:sp>
        <p:nvSpPr>
          <p:cNvPr id="13" name="CustomShape 9">
            <a:extLst>
              <a:ext uri="{FF2B5EF4-FFF2-40B4-BE49-F238E27FC236}">
                <a16:creationId xmlns:a16="http://schemas.microsoft.com/office/drawing/2014/main" id="{06FBE120-0A69-D4EC-B417-4FED3EB3079C}"/>
              </a:ext>
            </a:extLst>
          </p:cNvPr>
          <p:cNvSpPr/>
          <p:nvPr/>
        </p:nvSpPr>
        <p:spPr>
          <a:xfrm>
            <a:off x="169332" y="2026681"/>
            <a:ext cx="6357937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1F407A"/>
                </a:solidFill>
                <a:uFillTx/>
                <a:latin typeface="+mn-ea"/>
                <a:cs typeface="Times New Roman" panose="02020603050405020304" pitchFamily="18" charset="0"/>
              </a:rPr>
              <a:t>Circular Economy: “From waste to money”</a:t>
            </a:r>
            <a:endParaRPr lang="en-US" sz="2000" b="1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0840CAE-2D45-0F67-62AB-CE7415F183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4" b="22888"/>
          <a:stretch>
            <a:fillRect/>
          </a:stretch>
        </p:blipFill>
        <p:spPr>
          <a:xfrm>
            <a:off x="9552407" y="1173382"/>
            <a:ext cx="2249473" cy="256969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1AB857C-568B-70DD-6274-27D3012926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3" r="17437"/>
          <a:stretch>
            <a:fillRect/>
          </a:stretch>
        </p:blipFill>
        <p:spPr>
          <a:xfrm>
            <a:off x="330831" y="3423109"/>
            <a:ext cx="3355345" cy="265777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904F585-1CFD-3A8F-129B-B7414BF26B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29" t="5208" r="14190" b="23757"/>
          <a:stretch>
            <a:fillRect/>
          </a:stretch>
        </p:blipFill>
        <p:spPr>
          <a:xfrm>
            <a:off x="9552407" y="3673647"/>
            <a:ext cx="2249473" cy="2569690"/>
          </a:xfrm>
          <a:prstGeom prst="rect">
            <a:avLst/>
          </a:prstGeom>
        </p:spPr>
      </p:pic>
      <p:sp>
        <p:nvSpPr>
          <p:cNvPr id="20" name="Pfeil nach rechts 19">
            <a:extLst>
              <a:ext uri="{FF2B5EF4-FFF2-40B4-BE49-F238E27FC236}">
                <a16:creationId xmlns:a16="http://schemas.microsoft.com/office/drawing/2014/main" id="{3FB8B14D-7682-8004-479F-18EB142D6281}"/>
              </a:ext>
            </a:extLst>
          </p:cNvPr>
          <p:cNvSpPr/>
          <p:nvPr/>
        </p:nvSpPr>
        <p:spPr>
          <a:xfrm rot="20705954">
            <a:off x="4118616" y="2435951"/>
            <a:ext cx="5014912" cy="11306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 nach rechts 20">
            <a:extLst>
              <a:ext uri="{FF2B5EF4-FFF2-40B4-BE49-F238E27FC236}">
                <a16:creationId xmlns:a16="http://schemas.microsoft.com/office/drawing/2014/main" id="{11A4EC17-C82C-F9AD-5C1F-5BF9B3860259}"/>
              </a:ext>
            </a:extLst>
          </p:cNvPr>
          <p:cNvSpPr/>
          <p:nvPr/>
        </p:nvSpPr>
        <p:spPr>
          <a:xfrm>
            <a:off x="4131225" y="4810945"/>
            <a:ext cx="5014912" cy="1180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CustomShape 9">
            <a:extLst>
              <a:ext uri="{FF2B5EF4-FFF2-40B4-BE49-F238E27FC236}">
                <a16:creationId xmlns:a16="http://schemas.microsoft.com/office/drawing/2014/main" id="{C80497B8-A8E6-82E3-55D4-F83FB660BCFF}"/>
              </a:ext>
            </a:extLst>
          </p:cNvPr>
          <p:cNvSpPr/>
          <p:nvPr/>
        </p:nvSpPr>
        <p:spPr>
          <a:xfrm rot="20689773">
            <a:off x="3150514" y="2865472"/>
            <a:ext cx="6357937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chemeClr val="bg1"/>
                </a:solidFill>
                <a:uFillTx/>
                <a:latin typeface="+mn-ea"/>
                <a:cs typeface="Times New Roman" panose="02020603050405020304" pitchFamily="18" charset="0"/>
              </a:rPr>
              <a:t>Waste disposal</a:t>
            </a:r>
            <a:endParaRPr lang="en-US" sz="2000" b="1" strike="noStrike" spc="-1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6" name="CustomShape 9">
            <a:extLst>
              <a:ext uri="{FF2B5EF4-FFF2-40B4-BE49-F238E27FC236}">
                <a16:creationId xmlns:a16="http://schemas.microsoft.com/office/drawing/2014/main" id="{8593D7D5-CA6D-6A97-D6F0-6322B274F42C}"/>
              </a:ext>
            </a:extLst>
          </p:cNvPr>
          <p:cNvSpPr/>
          <p:nvPr/>
        </p:nvSpPr>
        <p:spPr>
          <a:xfrm>
            <a:off x="3150513" y="5204451"/>
            <a:ext cx="6357937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chemeClr val="bg1"/>
                </a:solidFill>
                <a:uFillTx/>
                <a:latin typeface="+mn-ea"/>
                <a:cs typeface="Times New Roman" panose="02020603050405020304" pitchFamily="18" charset="0"/>
              </a:rPr>
              <a:t>Mushroom growing</a:t>
            </a:r>
            <a:endParaRPr lang="en-US" sz="2000" b="1" strike="noStrike" spc="-1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" name="CustomShape 9">
            <a:extLst>
              <a:ext uri="{FF2B5EF4-FFF2-40B4-BE49-F238E27FC236}">
                <a16:creationId xmlns:a16="http://schemas.microsoft.com/office/drawing/2014/main" id="{9794F945-D834-373F-316A-C858B97DEC83}"/>
              </a:ext>
            </a:extLst>
          </p:cNvPr>
          <p:cNvSpPr/>
          <p:nvPr/>
        </p:nvSpPr>
        <p:spPr>
          <a:xfrm rot="20689773">
            <a:off x="3323150" y="3329503"/>
            <a:ext cx="6357937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Environmental pollution</a:t>
            </a:r>
            <a:endParaRPr lang="en-US" sz="1600" b="1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8" name="CustomShape 9">
            <a:extLst>
              <a:ext uri="{FF2B5EF4-FFF2-40B4-BE49-F238E27FC236}">
                <a16:creationId xmlns:a16="http://schemas.microsoft.com/office/drawing/2014/main" id="{CA48067C-9904-2364-D508-6E9C99ABD976}"/>
              </a:ext>
            </a:extLst>
          </p:cNvPr>
          <p:cNvSpPr/>
          <p:nvPr/>
        </p:nvSpPr>
        <p:spPr>
          <a:xfrm>
            <a:off x="3209133" y="5673442"/>
            <a:ext cx="6357937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Income generating</a:t>
            </a:r>
            <a:endParaRPr lang="en-US" sz="1600" b="1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9" name="CustomShape 9">
            <a:extLst>
              <a:ext uri="{FF2B5EF4-FFF2-40B4-BE49-F238E27FC236}">
                <a16:creationId xmlns:a16="http://schemas.microsoft.com/office/drawing/2014/main" id="{818220CD-02BF-3A71-4C34-CDBD156B2997}"/>
              </a:ext>
            </a:extLst>
          </p:cNvPr>
          <p:cNvSpPr/>
          <p:nvPr/>
        </p:nvSpPr>
        <p:spPr>
          <a:xfrm>
            <a:off x="-1231068" y="3035466"/>
            <a:ext cx="6357937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Agricultural waste</a:t>
            </a:r>
            <a:endParaRPr lang="en-US" sz="1600" b="1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0" name="Rahmen 29">
            <a:extLst>
              <a:ext uri="{FF2B5EF4-FFF2-40B4-BE49-F238E27FC236}">
                <a16:creationId xmlns:a16="http://schemas.microsoft.com/office/drawing/2014/main" id="{ED1F9F8E-D372-4204-6F00-A7E21A40BB41}"/>
              </a:ext>
            </a:extLst>
          </p:cNvPr>
          <p:cNvSpPr/>
          <p:nvPr/>
        </p:nvSpPr>
        <p:spPr>
          <a:xfrm>
            <a:off x="169332" y="1927945"/>
            <a:ext cx="6476397" cy="653641"/>
          </a:xfrm>
          <a:prstGeom prst="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9E5D3BD-A56F-DD1C-7B9C-C83FFACE495B}"/>
              </a:ext>
            </a:extLst>
          </p:cNvPr>
          <p:cNvSpPr txBox="1"/>
          <p:nvPr/>
        </p:nvSpPr>
        <p:spPr>
          <a:xfrm>
            <a:off x="9485890" y="3095567"/>
            <a:ext cx="23159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bg1"/>
                </a:solidFill>
                <a:latin typeface="+mn-ea"/>
              </a:rPr>
              <a:t>Source: https://</a:t>
            </a:r>
            <a:r>
              <a:rPr lang="de-DE" sz="1000" dirty="0" err="1">
                <a:solidFill>
                  <a:schemeClr val="bg1"/>
                </a:solidFill>
                <a:latin typeface="+mn-ea"/>
              </a:rPr>
              <a:t>www.youtube.com</a:t>
            </a:r>
            <a:r>
              <a:rPr lang="de-DE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de-DE" sz="1000" dirty="0" err="1">
                <a:solidFill>
                  <a:schemeClr val="bg1"/>
                </a:solidFill>
                <a:latin typeface="+mn-ea"/>
              </a:rPr>
              <a:t>watch?v</a:t>
            </a:r>
            <a:r>
              <a:rPr lang="de-DE" sz="1000" dirty="0">
                <a:solidFill>
                  <a:schemeClr val="bg1"/>
                </a:solidFill>
                <a:latin typeface="+mn-ea"/>
              </a:rPr>
              <a:t>=6FmEJcynxZE</a:t>
            </a:r>
          </a:p>
        </p:txBody>
      </p:sp>
    </p:spTree>
    <p:extLst>
      <p:ext uri="{BB962C8B-B14F-4D97-AF65-F5344CB8AC3E}">
        <p14:creationId xmlns:p14="http://schemas.microsoft.com/office/powerpoint/2010/main" val="33240815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 animBg="1"/>
      <p:bldP spid="21" grpId="0" animBg="1"/>
      <p:bldP spid="24" grpId="0"/>
      <p:bldP spid="26" grpId="0"/>
      <p:bldP spid="27" grpId="0"/>
      <p:bldP spid="28" grpId="0"/>
      <p:bldP spid="29" grpId="0"/>
      <p:bldP spid="30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31B5D-6704-1103-8670-8983EA34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CB8402FA-F30A-AAFC-DFE0-F377CB28D315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b="0" strike="noStrike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AAEA1FB1-9223-43B4-3097-695C4524F948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de-DE" sz="800" b="0" strike="noStrike" spc="-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4</a:t>
            </a:fld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81" name="CustomShape 7">
            <a:extLst>
              <a:ext uri="{FF2B5EF4-FFF2-40B4-BE49-F238E27FC236}">
                <a16:creationId xmlns:a16="http://schemas.microsoft.com/office/drawing/2014/main" id="{E18A44AC-322A-7DA0-7270-B0E687F23D68}"/>
              </a:ext>
            </a:extLst>
          </p:cNvPr>
          <p:cNvSpPr/>
          <p:nvPr/>
        </p:nvSpPr>
        <p:spPr>
          <a:xfrm>
            <a:off x="4653360" y="2528640"/>
            <a:ext cx="287928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8B1B6684-1690-ABF8-BDFD-C5192F141A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0768C4CD-DB85-49D2-7593-8E2B070D902B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DEB75CED-1106-1B20-071D-68BCD9DE6997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A30DCFB5-0E07-898B-4DEB-DFD29496A8B3}"/>
              </a:ext>
            </a:extLst>
          </p:cNvPr>
          <p:cNvSpPr/>
          <p:nvPr/>
        </p:nvSpPr>
        <p:spPr bwMode="auto">
          <a:xfrm>
            <a:off x="2634830" y="614663"/>
            <a:ext cx="2306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4286FC5D-B1FD-83C6-D913-8C8F533DF3D8}"/>
              </a:ext>
            </a:extLst>
          </p:cNvPr>
          <p:cNvSpPr/>
          <p:nvPr/>
        </p:nvSpPr>
        <p:spPr bwMode="auto">
          <a:xfrm>
            <a:off x="4941000" y="614663"/>
            <a:ext cx="2340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E9A43914-E0E8-B94C-B498-9826624D9F9B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B6C2F99F-83B5-F1B6-971F-298313DF0F70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CustomShape 5">
            <a:extLst>
              <a:ext uri="{FF2B5EF4-FFF2-40B4-BE49-F238E27FC236}">
                <a16:creationId xmlns:a16="http://schemas.microsoft.com/office/drawing/2014/main" id="{A059B4E2-F06D-929D-1AC9-953F47A23D86}"/>
              </a:ext>
            </a:extLst>
          </p:cNvPr>
          <p:cNvSpPr/>
          <p:nvPr/>
        </p:nvSpPr>
        <p:spPr>
          <a:xfrm>
            <a:off x="169333" y="971502"/>
            <a:ext cx="9445082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Mushroom cultivation in resource-limited settings</a:t>
            </a:r>
          </a:p>
        </p:txBody>
      </p:sp>
      <p:sp>
        <p:nvSpPr>
          <p:cNvPr id="7" name="CustomShape 9">
            <a:extLst>
              <a:ext uri="{FF2B5EF4-FFF2-40B4-BE49-F238E27FC236}">
                <a16:creationId xmlns:a16="http://schemas.microsoft.com/office/drawing/2014/main" id="{71A7AA40-FD9A-36B1-8E86-9A85C1217AA0}"/>
              </a:ext>
            </a:extLst>
          </p:cNvPr>
          <p:cNvSpPr/>
          <p:nvPr/>
        </p:nvSpPr>
        <p:spPr>
          <a:xfrm>
            <a:off x="3437669" y="2440660"/>
            <a:ext cx="5542498" cy="18144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1F407A"/>
                </a:solidFill>
                <a:uFillTx/>
                <a:latin typeface="+mn-ea"/>
                <a:cs typeface="Times New Roman" panose="02020603050405020304" pitchFamily="18" charset="0"/>
              </a:rPr>
              <a:t>Manual substrate preparation:</a:t>
            </a:r>
          </a:p>
          <a:p>
            <a:pPr>
              <a:lnSpc>
                <a:spcPct val="100000"/>
              </a:lnSpc>
            </a:pPr>
            <a:endParaRPr lang="en-US" sz="2000" b="1" spc="-1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trike="noStrike" spc="-1" dirty="0">
                <a:solidFill>
                  <a:srgbClr val="1F407A"/>
                </a:solidFill>
                <a:uFillTx/>
                <a:latin typeface="+mn-ea"/>
                <a:cs typeface="Times New Roman" panose="02020603050405020304" pitchFamily="18" charset="0"/>
              </a:rPr>
              <a:t>High labor cost</a:t>
            </a: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Inconsistent yields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en-US" b="1" strike="noStrike" spc="-1" dirty="0">
              <a:solidFill>
                <a:srgbClr val="1F407A"/>
              </a:solidFill>
              <a:uFillTx/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en-US" b="1" strike="noStrike" spc="-1" dirty="0">
              <a:solidFill>
                <a:srgbClr val="1F407A"/>
              </a:solidFill>
              <a:uFillTx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7BE5C703-A167-0799-9D8B-A0C60B626A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2" t="-265" r="32533" b="11526"/>
          <a:stretch>
            <a:fillRect/>
          </a:stretch>
        </p:blipFill>
        <p:spPr>
          <a:xfrm>
            <a:off x="330831" y="2416939"/>
            <a:ext cx="2825488" cy="365110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04BFA6B-9986-4BD4-A789-82C7EFDD6C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2"/>
          <a:stretch>
            <a:fillRect/>
          </a:stretch>
        </p:blipFill>
        <p:spPr>
          <a:xfrm>
            <a:off x="8976392" y="2425336"/>
            <a:ext cx="2825488" cy="3659504"/>
          </a:xfrm>
          <a:prstGeom prst="rect">
            <a:avLst/>
          </a:prstGeom>
        </p:spPr>
      </p:pic>
      <p:sp>
        <p:nvSpPr>
          <p:cNvPr id="22" name="CustomShape 9">
            <a:extLst>
              <a:ext uri="{FF2B5EF4-FFF2-40B4-BE49-F238E27FC236}">
                <a16:creationId xmlns:a16="http://schemas.microsoft.com/office/drawing/2014/main" id="{1C97E37A-4514-5714-693C-2C7B768ED3E4}"/>
              </a:ext>
            </a:extLst>
          </p:cNvPr>
          <p:cNvSpPr/>
          <p:nvPr/>
        </p:nvSpPr>
        <p:spPr>
          <a:xfrm>
            <a:off x="169333" y="2086759"/>
            <a:ext cx="3178969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pc="-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Ugandan</a:t>
            </a:r>
            <a:r>
              <a:rPr lang="en-US" sz="1600" b="1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 baseline</a:t>
            </a:r>
            <a:endParaRPr lang="en-US" sz="1600" b="1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3" name="CustomShape 9">
            <a:extLst>
              <a:ext uri="{FF2B5EF4-FFF2-40B4-BE49-F238E27FC236}">
                <a16:creationId xmlns:a16="http://schemas.microsoft.com/office/drawing/2014/main" id="{029FD160-D5C6-5824-B975-5538CDB78C1E}"/>
              </a:ext>
            </a:extLst>
          </p:cNvPr>
          <p:cNvSpPr/>
          <p:nvPr/>
        </p:nvSpPr>
        <p:spPr>
          <a:xfrm>
            <a:off x="8625491" y="2086759"/>
            <a:ext cx="3527289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Industrial processing</a:t>
            </a:r>
            <a:endParaRPr lang="en-US" sz="1600" b="1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1" name="CustomShape 9">
            <a:extLst>
              <a:ext uri="{FF2B5EF4-FFF2-40B4-BE49-F238E27FC236}">
                <a16:creationId xmlns:a16="http://schemas.microsoft.com/office/drawing/2014/main" id="{4EE81EAE-0749-C0BF-FD9F-971A56535C1E}"/>
              </a:ext>
            </a:extLst>
          </p:cNvPr>
          <p:cNvSpPr/>
          <p:nvPr/>
        </p:nvSpPr>
        <p:spPr>
          <a:xfrm>
            <a:off x="3470739" y="3876434"/>
            <a:ext cx="5187822" cy="18144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1F407A"/>
                </a:solidFill>
                <a:uFillTx/>
                <a:latin typeface="+mn-ea"/>
                <a:cs typeface="Times New Roman" panose="02020603050405020304" pitchFamily="18" charset="0"/>
              </a:rPr>
              <a:t>Mechanized substrate preparation:</a:t>
            </a:r>
          </a:p>
          <a:p>
            <a:pPr>
              <a:lnSpc>
                <a:spcPct val="100000"/>
              </a:lnSpc>
            </a:pPr>
            <a:endParaRPr lang="en-US" sz="2000" b="1" spc="-1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trike="noStrike" spc="-1" dirty="0">
                <a:solidFill>
                  <a:srgbClr val="1F407A"/>
                </a:solidFill>
                <a:uFillTx/>
                <a:latin typeface="+mn-ea"/>
                <a:cs typeface="Times New Roman" panose="02020603050405020304" pitchFamily="18" charset="0"/>
              </a:rPr>
              <a:t>High capital requirement</a:t>
            </a: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High energy consumption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en-US" b="1" strike="noStrike" spc="-1" dirty="0">
              <a:solidFill>
                <a:srgbClr val="1F407A"/>
              </a:solidFill>
              <a:uFillTx/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en-US" b="1" strike="noStrike" spc="-1" dirty="0">
              <a:solidFill>
                <a:srgbClr val="1F407A"/>
              </a:solidFill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4222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3" grpId="0"/>
      <p:bldP spid="31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496E5-1A04-3DE7-E3C6-41AC71F7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0A2983A9-F79F-DDA5-21E3-EC5DB585D053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b="0" strike="noStrike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E9FA947D-8B56-D973-F05A-C4EA911827DC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de-DE" sz="800" b="0" strike="noStrike" spc="-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5</a:t>
            </a:fld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81" name="CustomShape 7">
            <a:extLst>
              <a:ext uri="{FF2B5EF4-FFF2-40B4-BE49-F238E27FC236}">
                <a16:creationId xmlns:a16="http://schemas.microsoft.com/office/drawing/2014/main" id="{7441350C-636D-8D0F-FD47-9C2D4CB9AF94}"/>
              </a:ext>
            </a:extLst>
          </p:cNvPr>
          <p:cNvSpPr/>
          <p:nvPr/>
        </p:nvSpPr>
        <p:spPr>
          <a:xfrm>
            <a:off x="4653360" y="2528640"/>
            <a:ext cx="287928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43B4418B-7B1D-063C-B77E-A26B548626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C11322E7-9F31-C251-4F11-A06CA1BFC665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3E52AB3E-C697-4579-5D73-1CAC8DEAA845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908F868A-1B2F-5726-9A1B-1257294D64CD}"/>
              </a:ext>
            </a:extLst>
          </p:cNvPr>
          <p:cNvSpPr/>
          <p:nvPr/>
        </p:nvSpPr>
        <p:spPr bwMode="auto">
          <a:xfrm>
            <a:off x="2634830" y="614663"/>
            <a:ext cx="2306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F95ECAFC-956A-EA7F-1A0A-5248D8D609FC}"/>
              </a:ext>
            </a:extLst>
          </p:cNvPr>
          <p:cNvSpPr/>
          <p:nvPr/>
        </p:nvSpPr>
        <p:spPr bwMode="auto">
          <a:xfrm>
            <a:off x="4941000" y="614663"/>
            <a:ext cx="2340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9BC05D00-FCAA-778D-41B4-A7CD60676BDA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4B8A205B-3E03-DF5D-A92A-B09B704C8A10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CustomShape 5">
            <a:extLst>
              <a:ext uri="{FF2B5EF4-FFF2-40B4-BE49-F238E27FC236}">
                <a16:creationId xmlns:a16="http://schemas.microsoft.com/office/drawing/2014/main" id="{5EC17A28-617B-E302-112F-88A5C2A30916}"/>
              </a:ext>
            </a:extLst>
          </p:cNvPr>
          <p:cNvSpPr/>
          <p:nvPr/>
        </p:nvSpPr>
        <p:spPr>
          <a:xfrm>
            <a:off x="169333" y="971502"/>
            <a:ext cx="9445082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1F407A"/>
                </a:solidFill>
                <a:latin typeface="+mj-ea"/>
                <a:cs typeface="Times New Roman" panose="02020603050405020304" pitchFamily="18" charset="0"/>
              </a:rPr>
              <a:t>Mushroom cultivation in resource-constraint settings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791957B-26CC-DD80-55AD-1A39B452BE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2" t="-265" r="32533" b="11526"/>
          <a:stretch>
            <a:fillRect/>
          </a:stretch>
        </p:blipFill>
        <p:spPr>
          <a:xfrm>
            <a:off x="330831" y="2416939"/>
            <a:ext cx="2825488" cy="365110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5D2209D-A1E1-9075-2B08-BDDC49DC40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2"/>
          <a:stretch>
            <a:fillRect/>
          </a:stretch>
        </p:blipFill>
        <p:spPr>
          <a:xfrm>
            <a:off x="8976392" y="2425336"/>
            <a:ext cx="2825488" cy="3659504"/>
          </a:xfrm>
          <a:prstGeom prst="rect">
            <a:avLst/>
          </a:prstGeom>
        </p:spPr>
      </p:pic>
      <p:sp>
        <p:nvSpPr>
          <p:cNvPr id="22" name="CustomShape 9">
            <a:extLst>
              <a:ext uri="{FF2B5EF4-FFF2-40B4-BE49-F238E27FC236}">
                <a16:creationId xmlns:a16="http://schemas.microsoft.com/office/drawing/2014/main" id="{850A78E4-45FC-6EFC-F716-C9FDA83121B2}"/>
              </a:ext>
            </a:extLst>
          </p:cNvPr>
          <p:cNvSpPr/>
          <p:nvPr/>
        </p:nvSpPr>
        <p:spPr>
          <a:xfrm>
            <a:off x="169333" y="2086759"/>
            <a:ext cx="3178969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pc="-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Ugandan</a:t>
            </a:r>
            <a:r>
              <a:rPr lang="en-US" sz="1600" b="1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 baseline</a:t>
            </a:r>
            <a:endParaRPr lang="en-US" sz="1600" b="1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3" name="CustomShape 9">
            <a:extLst>
              <a:ext uri="{FF2B5EF4-FFF2-40B4-BE49-F238E27FC236}">
                <a16:creationId xmlns:a16="http://schemas.microsoft.com/office/drawing/2014/main" id="{8308AAEC-1F86-FA78-FB34-9E809538BA33}"/>
              </a:ext>
            </a:extLst>
          </p:cNvPr>
          <p:cNvSpPr/>
          <p:nvPr/>
        </p:nvSpPr>
        <p:spPr>
          <a:xfrm>
            <a:off x="8625491" y="2086759"/>
            <a:ext cx="3527289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strike="noStrike" spc="-1" dirty="0">
                <a:solidFill>
                  <a:schemeClr val="accent1"/>
                </a:solidFill>
                <a:uFillTx/>
                <a:latin typeface="+mn-ea"/>
                <a:cs typeface="Times New Roman" panose="02020603050405020304" pitchFamily="18" charset="0"/>
              </a:rPr>
              <a:t>Industrial processing</a:t>
            </a:r>
            <a:endParaRPr lang="en-US" sz="1600" b="1" strike="noStrike" spc="-1" dirty="0">
              <a:solidFill>
                <a:schemeClr val="accent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0" name="Pfeil nach rechts 29">
            <a:extLst>
              <a:ext uri="{FF2B5EF4-FFF2-40B4-BE49-F238E27FC236}">
                <a16:creationId xmlns:a16="http://schemas.microsoft.com/office/drawing/2014/main" id="{0053CB2E-51F3-172B-BE1C-C15519AC5CE9}"/>
              </a:ext>
            </a:extLst>
          </p:cNvPr>
          <p:cNvSpPr/>
          <p:nvPr/>
        </p:nvSpPr>
        <p:spPr>
          <a:xfrm>
            <a:off x="3437669" y="5340556"/>
            <a:ext cx="5187822" cy="7442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CustomShape 9">
            <a:extLst>
              <a:ext uri="{FF2B5EF4-FFF2-40B4-BE49-F238E27FC236}">
                <a16:creationId xmlns:a16="http://schemas.microsoft.com/office/drawing/2014/main" id="{A2BCD173-92A9-B3BC-8334-4405BB68B6E0}"/>
              </a:ext>
            </a:extLst>
          </p:cNvPr>
          <p:cNvSpPr/>
          <p:nvPr/>
        </p:nvSpPr>
        <p:spPr>
          <a:xfrm>
            <a:off x="2711937" y="5513370"/>
            <a:ext cx="6357937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pc="-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Goal of this p</a:t>
            </a:r>
            <a:r>
              <a:rPr lang="en-US" sz="2000" b="1" strike="noStrike" spc="-1" dirty="0">
                <a:solidFill>
                  <a:schemeClr val="bg1"/>
                </a:solidFill>
                <a:uFillTx/>
                <a:latin typeface="+mn-ea"/>
                <a:cs typeface="Times New Roman" panose="02020603050405020304" pitchFamily="18" charset="0"/>
              </a:rPr>
              <a:t>roject</a:t>
            </a:r>
            <a:endParaRPr lang="en-US" sz="2000" b="1" strike="noStrike" spc="-1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CustomShape 9">
            <a:extLst>
              <a:ext uri="{FF2B5EF4-FFF2-40B4-BE49-F238E27FC236}">
                <a16:creationId xmlns:a16="http://schemas.microsoft.com/office/drawing/2014/main" id="{602676FF-E3BA-B2AA-942D-5730BE06FB92}"/>
              </a:ext>
            </a:extLst>
          </p:cNvPr>
          <p:cNvSpPr/>
          <p:nvPr/>
        </p:nvSpPr>
        <p:spPr>
          <a:xfrm>
            <a:off x="4126211" y="2816110"/>
            <a:ext cx="3810738" cy="23684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1F407A"/>
                </a:solidFill>
                <a:uFillTx/>
                <a:latin typeface="+mn-ea"/>
                <a:cs typeface="Times New Roman" panose="02020603050405020304" pitchFamily="18" charset="0"/>
              </a:rPr>
              <a:t>Constraints in Kampala:</a:t>
            </a:r>
          </a:p>
          <a:p>
            <a:pPr>
              <a:lnSpc>
                <a:spcPct val="100000"/>
              </a:lnSpc>
            </a:pPr>
            <a:endParaRPr lang="en-US" sz="2000" b="1" spc="-1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trike="noStrike" spc="-1" dirty="0">
                <a:solidFill>
                  <a:srgbClr val="1F407A"/>
                </a:solidFill>
                <a:uFillTx/>
                <a:latin typeface="+mn-ea"/>
                <a:cs typeface="Times New Roman" panose="02020603050405020304" pitchFamily="18" charset="0"/>
              </a:rPr>
              <a:t>Low capital (smallholders)</a:t>
            </a: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Limited material availability</a:t>
            </a: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Unreliable energy supply</a:t>
            </a:r>
          </a:p>
          <a:p>
            <a:pPr marL="285750" indent="-2857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High energy cost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en-US" b="1" strike="noStrike" spc="-1" dirty="0">
              <a:solidFill>
                <a:srgbClr val="1F407A"/>
              </a:solidFill>
              <a:uFillTx/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en-US" b="1" strike="noStrike" spc="-1" dirty="0">
              <a:solidFill>
                <a:srgbClr val="1F407A"/>
              </a:solidFill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7891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1A72-EE5B-C0E5-678F-47F4C500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B2F0228F-7DBF-07B7-381F-EF3248BF68E5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b="0" strike="noStrike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FCF29B6A-5E57-2ABF-DE3C-1F2D6DA1956E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de-DE" sz="800" b="0" strike="noStrike" spc="-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6</a:t>
            </a:fld>
            <a:endParaRPr lang="de-DE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81" name="CustomShape 7">
            <a:extLst>
              <a:ext uri="{FF2B5EF4-FFF2-40B4-BE49-F238E27FC236}">
                <a16:creationId xmlns:a16="http://schemas.microsoft.com/office/drawing/2014/main" id="{52C6909E-A916-6C4B-BE0A-5C913BDDCCB4}"/>
              </a:ext>
            </a:extLst>
          </p:cNvPr>
          <p:cNvSpPr/>
          <p:nvPr/>
        </p:nvSpPr>
        <p:spPr>
          <a:xfrm>
            <a:off x="4653360" y="2528640"/>
            <a:ext cx="287928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34A50CB1-9D17-575D-5902-D2184A5E60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FF5F34FA-AB22-0887-B9BD-5F4B3E5E7140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69FDD0C6-598B-AB33-32F9-D3CAC4E74A74}"/>
              </a:ext>
            </a:extLst>
          </p:cNvPr>
          <p:cNvSpPr/>
          <p:nvPr/>
        </p:nvSpPr>
        <p:spPr bwMode="auto">
          <a:xfrm>
            <a:off x="2634830" y="614663"/>
            <a:ext cx="2306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68480B62-C477-82DE-14F8-DDA6B36854EE}"/>
              </a:ext>
            </a:extLst>
          </p:cNvPr>
          <p:cNvSpPr/>
          <p:nvPr/>
        </p:nvSpPr>
        <p:spPr bwMode="auto">
          <a:xfrm>
            <a:off x="4941000" y="614663"/>
            <a:ext cx="2340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878B51B7-2009-57DA-AD22-7C2B3931D1AC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428E49E2-4931-69CE-ECF3-6D00D2AF4D65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CustomShape 5">
            <a:extLst>
              <a:ext uri="{FF2B5EF4-FFF2-40B4-BE49-F238E27FC236}">
                <a16:creationId xmlns:a16="http://schemas.microsoft.com/office/drawing/2014/main" id="{4F3324EC-7D08-BC48-2190-6C35D5213739}"/>
              </a:ext>
            </a:extLst>
          </p:cNvPr>
          <p:cNvSpPr/>
          <p:nvPr/>
        </p:nvSpPr>
        <p:spPr>
          <a:xfrm>
            <a:off x="169332" y="971502"/>
            <a:ext cx="10747307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Requirements for the device (Research Questions)</a:t>
            </a:r>
          </a:p>
        </p:txBody>
      </p:sp>
      <p:sp>
        <p:nvSpPr>
          <p:cNvPr id="7" name="CustomShape 9">
            <a:extLst>
              <a:ext uri="{FF2B5EF4-FFF2-40B4-BE49-F238E27FC236}">
                <a16:creationId xmlns:a16="http://schemas.microsoft.com/office/drawing/2014/main" id="{0D3EF228-B5B7-37DE-778B-478FC29B5031}"/>
              </a:ext>
            </a:extLst>
          </p:cNvPr>
          <p:cNvSpPr/>
          <p:nvPr/>
        </p:nvSpPr>
        <p:spPr>
          <a:xfrm>
            <a:off x="378998" y="2320413"/>
            <a:ext cx="9445082" cy="7064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r>
              <a:rPr lang="en-US" sz="20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How can heterogeneous agricultural residues be processed to achieve a homogeneous substrate composition throughout the mixing vessel?</a:t>
            </a:r>
          </a:p>
        </p:txBody>
      </p:sp>
      <p:sp>
        <p:nvSpPr>
          <p:cNvPr id="9" name="CustomShape 9">
            <a:extLst>
              <a:ext uri="{FF2B5EF4-FFF2-40B4-BE49-F238E27FC236}">
                <a16:creationId xmlns:a16="http://schemas.microsoft.com/office/drawing/2014/main" id="{A5190900-14DD-1256-CF5F-291875F0D472}"/>
              </a:ext>
            </a:extLst>
          </p:cNvPr>
          <p:cNvSpPr/>
          <p:nvPr/>
        </p:nvSpPr>
        <p:spPr>
          <a:xfrm>
            <a:off x="348212" y="3383273"/>
            <a:ext cx="11525576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Watering</a:t>
            </a:r>
            <a:endParaRPr lang="en-US" sz="2000" b="1" strike="noStrike" spc="-1" dirty="0">
              <a:solidFill>
                <a:srgbClr val="1F407A"/>
              </a:solidFill>
              <a:uFillTx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0" name="CustomShape 9">
            <a:extLst>
              <a:ext uri="{FF2B5EF4-FFF2-40B4-BE49-F238E27FC236}">
                <a16:creationId xmlns:a16="http://schemas.microsoft.com/office/drawing/2014/main" id="{B0F16B58-DDD5-98D6-B400-452DE4A6F0A4}"/>
              </a:ext>
            </a:extLst>
          </p:cNvPr>
          <p:cNvSpPr/>
          <p:nvPr/>
        </p:nvSpPr>
        <p:spPr>
          <a:xfrm>
            <a:off x="378998" y="4731215"/>
            <a:ext cx="11525576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Portioning</a:t>
            </a:r>
            <a:endParaRPr lang="en-US" sz="2000" b="1" strike="noStrike" spc="-1" dirty="0">
              <a:solidFill>
                <a:srgbClr val="1F407A"/>
              </a:solidFill>
              <a:uFillTx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3" name="CustomShape 9">
            <a:extLst>
              <a:ext uri="{FF2B5EF4-FFF2-40B4-BE49-F238E27FC236}">
                <a16:creationId xmlns:a16="http://schemas.microsoft.com/office/drawing/2014/main" id="{D1F1B7C7-B128-C482-2114-DAFA72A7C370}"/>
              </a:ext>
            </a:extLst>
          </p:cNvPr>
          <p:cNvSpPr/>
          <p:nvPr/>
        </p:nvSpPr>
        <p:spPr>
          <a:xfrm>
            <a:off x="378998" y="2007109"/>
            <a:ext cx="11525576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Mixing</a:t>
            </a:r>
            <a:endParaRPr lang="en-US" sz="2000" b="1" strike="noStrike" spc="-1" dirty="0">
              <a:solidFill>
                <a:srgbClr val="1F407A"/>
              </a:solidFill>
              <a:uFillTx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6" name="CustomShape 9">
            <a:extLst>
              <a:ext uri="{FF2B5EF4-FFF2-40B4-BE49-F238E27FC236}">
                <a16:creationId xmlns:a16="http://schemas.microsoft.com/office/drawing/2014/main" id="{C7D3CAAC-7EF6-4052-591E-34C6CA8C52B3}"/>
              </a:ext>
            </a:extLst>
          </p:cNvPr>
          <p:cNvSpPr/>
          <p:nvPr/>
        </p:nvSpPr>
        <p:spPr>
          <a:xfrm>
            <a:off x="330831" y="3756047"/>
            <a:ext cx="11525576" cy="7064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How can the substrate be uniformly hydrated to achieve a target moisture content of 60-70 </a:t>
            </a:r>
            <a:r>
              <a:rPr lang="en-US" sz="2000" spc="-1" dirty="0" err="1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wt</a:t>
            </a:r>
            <a:r>
              <a:rPr lang="en-US" sz="20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%?</a:t>
            </a:r>
          </a:p>
        </p:txBody>
      </p:sp>
      <p:sp>
        <p:nvSpPr>
          <p:cNvPr id="17" name="CustomShape 9">
            <a:extLst>
              <a:ext uri="{FF2B5EF4-FFF2-40B4-BE49-F238E27FC236}">
                <a16:creationId xmlns:a16="http://schemas.microsoft.com/office/drawing/2014/main" id="{A3D47B14-6D7C-DBF1-BA2B-930EE13F24F3}"/>
              </a:ext>
            </a:extLst>
          </p:cNvPr>
          <p:cNvSpPr/>
          <p:nvPr/>
        </p:nvSpPr>
        <p:spPr>
          <a:xfrm>
            <a:off x="348212" y="5106887"/>
            <a:ext cx="11525576" cy="7064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r>
              <a:rPr lang="en-US" sz="20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How can the processed substrate be portioned into bags with deviations within a tolerance of ±10 </a:t>
            </a:r>
            <a:r>
              <a:rPr lang="en-US" sz="2000" spc="-1" dirty="0" err="1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wt</a:t>
            </a:r>
            <a:r>
              <a:rPr lang="en-US" sz="20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%?</a:t>
            </a:r>
          </a:p>
        </p:txBody>
      </p:sp>
      <p:sp>
        <p:nvSpPr>
          <p:cNvPr id="19" name="Rectangle 29">
            <a:extLst>
              <a:ext uri="{FF2B5EF4-FFF2-40B4-BE49-F238E27FC236}">
                <a16:creationId xmlns:a16="http://schemas.microsoft.com/office/drawing/2014/main" id="{8309D2BD-658E-FF18-295B-C549BEDD9106}"/>
              </a:ext>
            </a:extLst>
          </p:cNvPr>
          <p:cNvSpPr/>
          <p:nvPr/>
        </p:nvSpPr>
        <p:spPr bwMode="auto">
          <a:xfrm>
            <a:off x="2634831" y="614663"/>
            <a:ext cx="230400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8B7E9C7B-A468-00D1-C62C-C76F1497D09D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5000301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3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/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/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7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7D86FB9D-1F62-0B9D-7AB6-ACCC33B125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372FCC1A-8241-C22E-6411-BD1E675BC471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7135298B-1A44-0AE7-5BEA-4F5C1D268381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65D09DE9-5EC3-4E05-654F-0B5EED21B301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5363B84B-8AEA-0693-21A5-C10B86623107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1" name="CustomShape 9">
            <a:extLst>
              <a:ext uri="{FF2B5EF4-FFF2-40B4-BE49-F238E27FC236}">
                <a16:creationId xmlns:a16="http://schemas.microsoft.com/office/drawing/2014/main" id="{780F2D70-8566-B7DE-A62C-A7702E4D425D}"/>
              </a:ext>
            </a:extLst>
          </p:cNvPr>
          <p:cNvSpPr/>
          <p:nvPr/>
        </p:nvSpPr>
        <p:spPr>
          <a:xfrm>
            <a:off x="16296" y="1646961"/>
            <a:ext cx="12187238" cy="3678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1F407A"/>
                </a:solidFill>
                <a:uFillTx/>
                <a:latin typeface="+mj-ea"/>
                <a:ea typeface="+mj-ea"/>
                <a:cs typeface="Times New Roman" panose="02020603050405020304" pitchFamily="18" charset="0"/>
              </a:rPr>
              <a:t>“Simplicity is the ultimate sophistication.” </a:t>
            </a:r>
            <a:r>
              <a:rPr lang="en-US" sz="1400" strike="noStrike" spc="-1" dirty="0">
                <a:solidFill>
                  <a:srgbClr val="1F407A"/>
                </a:solidFill>
                <a:uFillTx/>
                <a:latin typeface="+mj-ea"/>
                <a:ea typeface="+mj-ea"/>
                <a:cs typeface="Times New Roman" panose="02020603050405020304" pitchFamily="18" charset="0"/>
              </a:rPr>
              <a:t>– Leonardo da Vinci</a:t>
            </a:r>
            <a:endParaRPr lang="en-US" sz="1800" b="1" strike="noStrike" spc="-1" dirty="0">
              <a:solidFill>
                <a:srgbClr val="1F407A"/>
              </a:solidFill>
              <a:uFillTx/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A0F6956-7FAE-5327-69D2-4F9113A0D45A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6943E314-2366-62AD-185C-066F86024027}"/>
              </a:ext>
            </a:extLst>
          </p:cNvPr>
          <p:cNvSpPr/>
          <p:nvPr/>
        </p:nvSpPr>
        <p:spPr bwMode="auto">
          <a:xfrm>
            <a:off x="4938830" y="614663"/>
            <a:ext cx="234217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468B1199-DDDE-BA2B-53EE-421DBE5712EB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Product Development - Methodology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CustomShape 9">
            <a:extLst>
              <a:ext uri="{FF2B5EF4-FFF2-40B4-BE49-F238E27FC236}">
                <a16:creationId xmlns:a16="http://schemas.microsoft.com/office/drawing/2014/main" id="{F969289D-1BD8-E1B5-B2A0-09AF74C71926}"/>
              </a:ext>
            </a:extLst>
          </p:cNvPr>
          <p:cNvSpPr/>
          <p:nvPr/>
        </p:nvSpPr>
        <p:spPr>
          <a:xfrm>
            <a:off x="360940" y="2323895"/>
            <a:ext cx="2983124" cy="3339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Globally available materials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DC7B726-4BF7-CC42-F09A-A912FB59D0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616" y="2657836"/>
            <a:ext cx="2762449" cy="368326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2DC5BE2-3541-9280-3FE3-02558E5861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77" y="2657836"/>
            <a:ext cx="2762450" cy="3683266"/>
          </a:xfrm>
          <a:prstGeom prst="rect">
            <a:avLst/>
          </a:prstGeom>
        </p:spPr>
      </p:pic>
      <p:sp>
        <p:nvSpPr>
          <p:cNvPr id="18" name="CustomShape 9">
            <a:extLst>
              <a:ext uri="{FF2B5EF4-FFF2-40B4-BE49-F238E27FC236}">
                <a16:creationId xmlns:a16="http://schemas.microsoft.com/office/drawing/2014/main" id="{452CB8B6-34AC-EDD8-C333-61AF2F04961D}"/>
              </a:ext>
            </a:extLst>
          </p:cNvPr>
          <p:cNvSpPr/>
          <p:nvPr/>
        </p:nvSpPr>
        <p:spPr>
          <a:xfrm>
            <a:off x="4792428" y="2323894"/>
            <a:ext cx="2440882" cy="3339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Simple manufacturing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4273564-879D-1206-8DA9-B82D19E8EB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35" b="5250"/>
          <a:stretch>
            <a:fillRect/>
          </a:stretch>
        </p:blipFill>
        <p:spPr>
          <a:xfrm>
            <a:off x="9093958" y="2690298"/>
            <a:ext cx="2762449" cy="3683266"/>
          </a:xfrm>
          <a:prstGeom prst="rect">
            <a:avLst/>
          </a:prstGeom>
        </p:spPr>
      </p:pic>
      <p:sp>
        <p:nvSpPr>
          <p:cNvPr id="22" name="CustomShape 9">
            <a:extLst>
              <a:ext uri="{FF2B5EF4-FFF2-40B4-BE49-F238E27FC236}">
                <a16:creationId xmlns:a16="http://schemas.microsoft.com/office/drawing/2014/main" id="{65519F95-B48F-6A20-1D88-52F8009CD9DC}"/>
              </a:ext>
            </a:extLst>
          </p:cNvPr>
          <p:cNvSpPr/>
          <p:nvPr/>
        </p:nvSpPr>
        <p:spPr>
          <a:xfrm>
            <a:off x="9341621" y="2325240"/>
            <a:ext cx="2267122" cy="3339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Low-tech &amp; low-cost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BF7AD41-D084-4ED2-CAEE-3FA565963BF9}"/>
              </a:ext>
            </a:extLst>
          </p:cNvPr>
          <p:cNvSpPr txBox="1"/>
          <p:nvPr/>
        </p:nvSpPr>
        <p:spPr>
          <a:xfrm>
            <a:off x="4521307" y="1521507"/>
            <a:ext cx="2983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1">
                <a:solidFill>
                  <a:schemeClr val="accent1"/>
                </a:solidFill>
                <a:latin typeface="+mn-ea"/>
              </a:rPr>
              <a:t>Reproducibility</a:t>
            </a:r>
            <a:endParaRPr lang="de-DE" sz="2800" dirty="0">
              <a:solidFill>
                <a:schemeClr val="accent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7678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7" grpId="0"/>
      <p:bldP spid="18" grpId="0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0C92-78D4-73C8-2F4B-3BB920A6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796B0697-DADD-49AB-9B39-8ABAF8E65134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BBCBAE62-F41B-5023-0818-CDEBBAD09FEC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7F56E664-AA37-61D0-138E-2630FCCE88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28A5B19A-298D-6E15-A2E1-C1AD448936C3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39D6CF10-994E-A26D-58AD-D34E1EEB1D83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F5A9E424-8BEC-46DF-BA7F-8FEF2B434254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A3DFEDC3-5770-E873-2C24-D2968850D3CA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8C676E84-7767-4424-F715-12F7632B143C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BD7BD121-4722-B77F-F2C0-577ED86332CB}"/>
              </a:ext>
            </a:extLst>
          </p:cNvPr>
          <p:cNvSpPr/>
          <p:nvPr/>
        </p:nvSpPr>
        <p:spPr bwMode="auto">
          <a:xfrm>
            <a:off x="4938830" y="614663"/>
            <a:ext cx="234217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A2EA06D1-834C-EEBB-133E-E63EB1D7A4A3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Product Development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54AFEBA8-2351-5A8F-1891-FFAFD14D26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393" y="971502"/>
            <a:ext cx="4414874" cy="5886498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13BA579F-B1B9-8928-5042-A642E7E9DB35}"/>
              </a:ext>
            </a:extLst>
          </p:cNvPr>
          <p:cNvSpPr txBox="1"/>
          <p:nvPr/>
        </p:nvSpPr>
        <p:spPr>
          <a:xfrm>
            <a:off x="8093354" y="2760589"/>
            <a:ext cx="34342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Oil drum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Wooden panels</a:t>
            </a:r>
          </a:p>
          <a:p>
            <a:pPr marL="285750" indent="-285750">
              <a:buFont typeface="Wingdings" pitchFamily="2" charset="2"/>
              <a:buChar char="§"/>
            </a:pPr>
            <a:endParaRPr lang="en-GB" sz="2400" noProof="1">
              <a:solidFill>
                <a:schemeClr val="accent1"/>
              </a:solidFill>
              <a:latin typeface="+mn-ea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Globally standardized materials &amp; items</a:t>
            </a:r>
          </a:p>
        </p:txBody>
      </p:sp>
    </p:spTree>
    <p:extLst>
      <p:ext uri="{BB962C8B-B14F-4D97-AF65-F5344CB8AC3E}">
        <p14:creationId xmlns:p14="http://schemas.microsoft.com/office/powerpoint/2010/main" val="6500483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56732-7D6F-DA24-D6FF-9F3C96EC3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>
            <a:extLst>
              <a:ext uri="{FF2B5EF4-FFF2-40B4-BE49-F238E27FC236}">
                <a16:creationId xmlns:a16="http://schemas.microsoft.com/office/drawing/2014/main" id="{BC5E48F8-2C2B-0700-3779-C3A054C837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33" y="2410726"/>
            <a:ext cx="5471072" cy="3555723"/>
          </a:xfrm>
          <a:prstGeom prst="rect">
            <a:avLst/>
          </a:prstGeom>
        </p:spPr>
      </p:pic>
      <p:sp>
        <p:nvSpPr>
          <p:cNvPr id="275" name="CustomShape 3">
            <a:extLst>
              <a:ext uri="{FF2B5EF4-FFF2-40B4-BE49-F238E27FC236}">
                <a16:creationId xmlns:a16="http://schemas.microsoft.com/office/drawing/2014/main" id="{A8D975F9-14EB-2EC8-049C-F2D7C24AD415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4B96327B-A39B-2833-3C37-8C9428C97C54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9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F6FA142C-41DE-A07B-939D-973F49A42F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20F93B74-0E3A-1AE6-A3ED-447C7835DA53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D22324B7-853D-676B-1A27-AF38929E2798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B0CFD42A-28FF-7498-DB0C-CB448F47C0F3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F27FF9B1-7963-A067-DFC1-C6FFF53D196D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79DFD36B-874A-A3DD-4C82-25EF690757F4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7763489-BDD3-532A-39AD-6199C33F7DC0}"/>
              </a:ext>
            </a:extLst>
          </p:cNvPr>
          <p:cNvSpPr/>
          <p:nvPr/>
        </p:nvSpPr>
        <p:spPr bwMode="auto">
          <a:xfrm>
            <a:off x="4938830" y="614663"/>
            <a:ext cx="234217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246C3AC7-3CC8-07F1-E2C9-DEEA5247D1B0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Product Development - Mixing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8" name="CustomShape 9">
            <a:extLst>
              <a:ext uri="{FF2B5EF4-FFF2-40B4-BE49-F238E27FC236}">
                <a16:creationId xmlns:a16="http://schemas.microsoft.com/office/drawing/2014/main" id="{6E3D8B4F-696E-2356-52D0-F56CAAB5457E}"/>
              </a:ext>
            </a:extLst>
          </p:cNvPr>
          <p:cNvSpPr/>
          <p:nvPr/>
        </p:nvSpPr>
        <p:spPr>
          <a:xfrm>
            <a:off x="3160382" y="1760755"/>
            <a:ext cx="584647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Model scale 1:5 – Testing different paddle geometries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E2606FF-38CB-84B7-048C-C37FEC77E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379" y="1104834"/>
            <a:ext cx="2740501" cy="493290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FF7ACBC3-7527-CEE6-4907-69788C5FA3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38" y="2125169"/>
            <a:ext cx="5113704" cy="3841280"/>
          </a:xfrm>
          <a:prstGeom prst="rect">
            <a:avLst/>
          </a:prstGeom>
        </p:spPr>
      </p:pic>
      <p:sp>
        <p:nvSpPr>
          <p:cNvPr id="29" name="CustomShape 9">
            <a:extLst>
              <a:ext uri="{FF2B5EF4-FFF2-40B4-BE49-F238E27FC236}">
                <a16:creationId xmlns:a16="http://schemas.microsoft.com/office/drawing/2014/main" id="{EBEFF05C-AEDF-F8BB-CA0B-A51FE4DF1FB2}"/>
              </a:ext>
            </a:extLst>
          </p:cNvPr>
          <p:cNvSpPr/>
          <p:nvPr/>
        </p:nvSpPr>
        <p:spPr>
          <a:xfrm>
            <a:off x="330831" y="1739616"/>
            <a:ext cx="1690193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Final agitator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0BDF24B-234E-ED8D-E6BD-EA8941C40BEF}"/>
              </a:ext>
            </a:extLst>
          </p:cNvPr>
          <p:cNvSpPr txBox="1"/>
          <p:nvPr/>
        </p:nvSpPr>
        <p:spPr>
          <a:xfrm>
            <a:off x="5627173" y="2315039"/>
            <a:ext cx="34342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Steel pipes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Pipe couplings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Rebar Paddles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Wooden Bearings</a:t>
            </a:r>
          </a:p>
          <a:p>
            <a:pPr marL="285750" indent="-285750">
              <a:buFont typeface="Wingdings" pitchFamily="2" charset="2"/>
              <a:buChar char="§"/>
            </a:pPr>
            <a:endParaRPr lang="en-GB" sz="2400" noProof="1">
              <a:solidFill>
                <a:schemeClr val="accent1"/>
              </a:solidFill>
              <a:latin typeface="+mn-ea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All materials used on construction sites</a:t>
            </a:r>
          </a:p>
        </p:txBody>
      </p:sp>
    </p:spTree>
    <p:extLst>
      <p:ext uri="{BB962C8B-B14F-4D97-AF65-F5344CB8AC3E}">
        <p14:creationId xmlns:p14="http://schemas.microsoft.com/office/powerpoint/2010/main" val="27544796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/>
      <p:bldP spid="29" grpId="1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48F95-D894-38A4-8FC0-70C36F8E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71039F29-4921-E882-5899-074DBAB014A0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290A47CF-0ADA-E31B-C502-6BC4D5A8FE3F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10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3EEF7EBD-5ED7-90B5-9DD5-C50BCF9AE7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171B05EE-B6F5-62EF-2A14-753502DB4295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3CFC99AD-BD2C-4DC8-92A1-C2C36D73712B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3814789E-F187-654D-DFD0-F082E09FFC97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D994B919-4B3E-7C0A-2649-10DC4B4A0016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7612C9A5-CD5E-0086-9AAD-004DA78EDCBB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4E4F7B35-1D7B-061B-2F16-E1AE9F3BD0C8}"/>
              </a:ext>
            </a:extLst>
          </p:cNvPr>
          <p:cNvSpPr/>
          <p:nvPr/>
        </p:nvSpPr>
        <p:spPr bwMode="auto">
          <a:xfrm>
            <a:off x="4938830" y="614663"/>
            <a:ext cx="234217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210E62C7-EC97-8FD2-70F1-C32CE6EE1971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Product Development - Watering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280143E-FD53-7DE2-DFAF-DD1F72320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817" y="2690013"/>
            <a:ext cx="4916063" cy="248534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EF38025-4D8D-E792-2B5E-41C6CD65EEEA}"/>
              </a:ext>
            </a:extLst>
          </p:cNvPr>
          <p:cNvSpPr txBox="1"/>
          <p:nvPr/>
        </p:nvSpPr>
        <p:spPr>
          <a:xfrm>
            <a:off x="1138862" y="2921855"/>
            <a:ext cx="46720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Hydrostatic Reservoir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Manifold (sprinkler)</a:t>
            </a:r>
          </a:p>
          <a:p>
            <a:pPr marL="285750" indent="-285750">
              <a:buFont typeface="Wingdings" pitchFamily="2" charset="2"/>
              <a:buChar char="§"/>
            </a:pPr>
            <a:endParaRPr lang="en-GB" sz="2400" noProof="1">
              <a:solidFill>
                <a:schemeClr val="accent1"/>
              </a:solidFill>
              <a:latin typeface="+mn-ea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Gravity driven</a:t>
            </a:r>
            <a:br>
              <a:rPr lang="en-GB" sz="2400" noProof="1">
                <a:solidFill>
                  <a:schemeClr val="accent1"/>
                </a:solidFill>
                <a:latin typeface="+mn-ea"/>
              </a:rPr>
            </a:br>
            <a:r>
              <a:rPr lang="en-GB" sz="2400" noProof="1">
                <a:solidFill>
                  <a:schemeClr val="accent1"/>
                </a:solidFill>
                <a:latin typeface="+mn-ea"/>
              </a:rPr>
              <a:t>(no energy supply)</a:t>
            </a:r>
          </a:p>
        </p:txBody>
      </p:sp>
    </p:spTree>
    <p:extLst>
      <p:ext uri="{BB962C8B-B14F-4D97-AF65-F5344CB8AC3E}">
        <p14:creationId xmlns:p14="http://schemas.microsoft.com/office/powerpoint/2010/main" val="28191542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BBD9-952B-7911-C1CF-93D3CC63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842AFEDA-31C1-1D2D-57BC-00B03C2ADC51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1909FA57-C230-B537-85ED-30F0883BF0B3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6E6CBC22-F8C1-7662-4B4A-92D26B81EF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AEA093BC-D7A3-752A-0964-BFA46D212D06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D46B8FF6-04B1-4025-E843-D8D746FA4C67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A0F24B76-3B0C-92CB-6DD2-93C98FC4C7DD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DAC03C45-7B19-BF8E-D06A-9D2F236F7520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0B64AFA-42BA-1AB2-9B42-E322AFFD83A6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2E1E66A-E865-92B6-A2D0-E8E37EDFE03F}"/>
              </a:ext>
            </a:extLst>
          </p:cNvPr>
          <p:cNvSpPr/>
          <p:nvPr/>
        </p:nvSpPr>
        <p:spPr bwMode="auto">
          <a:xfrm>
            <a:off x="4938830" y="614663"/>
            <a:ext cx="234217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C9DBC37B-A136-7D46-41E7-C64280840CC2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Product Development - Portioning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CustomShape 9">
            <a:extLst>
              <a:ext uri="{FF2B5EF4-FFF2-40B4-BE49-F238E27FC236}">
                <a16:creationId xmlns:a16="http://schemas.microsoft.com/office/drawing/2014/main" id="{E52BCCD1-10CC-02B9-0E8C-E3EC57DF05F4}"/>
              </a:ext>
            </a:extLst>
          </p:cNvPr>
          <p:cNvSpPr/>
          <p:nvPr/>
        </p:nvSpPr>
        <p:spPr>
          <a:xfrm>
            <a:off x="726833" y="1622034"/>
            <a:ext cx="1615344" cy="3339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Sealing Valve</a:t>
            </a:r>
          </a:p>
        </p:txBody>
      </p:sp>
      <p:sp>
        <p:nvSpPr>
          <p:cNvPr id="13" name="CustomShape 9">
            <a:extLst>
              <a:ext uri="{FF2B5EF4-FFF2-40B4-BE49-F238E27FC236}">
                <a16:creationId xmlns:a16="http://schemas.microsoft.com/office/drawing/2014/main" id="{324181AB-37EA-AF6A-D8FD-808D56D1927B}"/>
              </a:ext>
            </a:extLst>
          </p:cNvPr>
          <p:cNvSpPr/>
          <p:nvPr/>
        </p:nvSpPr>
        <p:spPr>
          <a:xfrm>
            <a:off x="5076129" y="1639119"/>
            <a:ext cx="1962333" cy="3339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Conveyance Duct</a:t>
            </a:r>
          </a:p>
        </p:txBody>
      </p:sp>
      <p:sp>
        <p:nvSpPr>
          <p:cNvPr id="16" name="CustomShape 9">
            <a:extLst>
              <a:ext uri="{FF2B5EF4-FFF2-40B4-BE49-F238E27FC236}">
                <a16:creationId xmlns:a16="http://schemas.microsoft.com/office/drawing/2014/main" id="{60D262AF-E26E-0D3C-E4C5-E1487F92561D}"/>
              </a:ext>
            </a:extLst>
          </p:cNvPr>
          <p:cNvSpPr/>
          <p:nvPr/>
        </p:nvSpPr>
        <p:spPr>
          <a:xfrm>
            <a:off x="9772415" y="1622034"/>
            <a:ext cx="1367482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spc="-1" dirty="0">
                <a:solidFill>
                  <a:srgbClr val="1F407A"/>
                </a:solidFill>
                <a:latin typeface="+mn-ea"/>
                <a:cs typeface="Times New Roman" panose="02020603050405020304" pitchFamily="18" charset="0"/>
              </a:rPr>
              <a:t>Slide Valve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21E0EC9-B1C5-D9F7-96BD-D7DC090C7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78" y="2015922"/>
            <a:ext cx="2372049" cy="422741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288637D-D2F2-1E2E-CFAE-6C8B2CCF1EC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4" t="5706" r="9037" b="9230"/>
          <a:stretch>
            <a:fillRect/>
          </a:stretch>
        </p:blipFill>
        <p:spPr>
          <a:xfrm>
            <a:off x="4886525" y="2015922"/>
            <a:ext cx="2413875" cy="4301954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DC8C65D5-1FB1-F7E5-976F-2A747F57CA9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945" t="21292" b="1784"/>
          <a:stretch>
            <a:fillRect/>
          </a:stretch>
        </p:blipFill>
        <p:spPr>
          <a:xfrm>
            <a:off x="8971472" y="2015922"/>
            <a:ext cx="2641588" cy="4300278"/>
          </a:xfrm>
          <a:prstGeom prst="rect">
            <a:avLst/>
          </a:prstGeom>
        </p:spPr>
      </p:pic>
      <p:sp>
        <p:nvSpPr>
          <p:cNvPr id="9" name="Pfeil nach rechts 8">
            <a:extLst>
              <a:ext uri="{FF2B5EF4-FFF2-40B4-BE49-F238E27FC236}">
                <a16:creationId xmlns:a16="http://schemas.microsoft.com/office/drawing/2014/main" id="{837B3BE7-B1ED-9123-275B-C47DCE099FCD}"/>
              </a:ext>
            </a:extLst>
          </p:cNvPr>
          <p:cNvSpPr/>
          <p:nvPr/>
        </p:nvSpPr>
        <p:spPr>
          <a:xfrm>
            <a:off x="2914959" y="3692265"/>
            <a:ext cx="1833543" cy="1180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1">
                <a:latin typeface="+mn-ea"/>
              </a:rPr>
              <a:t>dosing</a:t>
            </a:r>
          </a:p>
        </p:txBody>
      </p:sp>
      <p:sp>
        <p:nvSpPr>
          <p:cNvPr id="10" name="Pfeil nach rechts 9">
            <a:extLst>
              <a:ext uri="{FF2B5EF4-FFF2-40B4-BE49-F238E27FC236}">
                <a16:creationId xmlns:a16="http://schemas.microsoft.com/office/drawing/2014/main" id="{125C4968-1EB8-7C36-A6B3-5819FB4E11B3}"/>
              </a:ext>
            </a:extLst>
          </p:cNvPr>
          <p:cNvSpPr/>
          <p:nvPr/>
        </p:nvSpPr>
        <p:spPr>
          <a:xfrm>
            <a:off x="7351440" y="3692265"/>
            <a:ext cx="1482009" cy="1180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1">
                <a:latin typeface="+mn-ea"/>
              </a:rPr>
              <a:t>bagging</a:t>
            </a:r>
            <a:endParaRPr lang="de-DE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60271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6" grpId="0"/>
      <p:bldP spid="9" grpId="0" animBg="1"/>
      <p:bldP spid="10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37A5-42A2-DB72-2F2F-852BEFBB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DCA430BA-C2FC-4CD0-3750-5F61F018046B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43DE5E3A-A2A9-1396-2A04-4EC1C7B34B18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12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94DC08E5-A479-4D94-13AA-F746E1BE95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EDBD0EF6-CFFF-AAE3-216A-3EC18D64BC8A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F12D8CEE-333D-CA13-5E7A-1C18E9368875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E3AC29F9-3C22-9D30-45D7-8306DE271597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1B42C89A-4D24-A60A-E0E4-C34A23164D4E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E5D2A4F-6AB3-B8EF-6A67-A1807F5BF178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757D09E-7DDD-A9A7-2F1A-32F50C066E79}"/>
              </a:ext>
            </a:extLst>
          </p:cNvPr>
          <p:cNvSpPr/>
          <p:nvPr/>
        </p:nvSpPr>
        <p:spPr bwMode="auto">
          <a:xfrm>
            <a:off x="4938830" y="614663"/>
            <a:ext cx="234217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7B49A8C0-F81A-6CC3-AA22-80ED148C1327}"/>
              </a:ext>
            </a:extLst>
          </p:cNvPr>
          <p:cNvSpPr/>
          <p:nvPr/>
        </p:nvSpPr>
        <p:spPr>
          <a:xfrm>
            <a:off x="169332" y="971502"/>
            <a:ext cx="7249107" cy="3568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Product Development - Portioning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9BE72F1-4AA9-C5C8-03EA-521358A23C31}"/>
              </a:ext>
            </a:extLst>
          </p:cNvPr>
          <p:cNvSpPr txBox="1"/>
          <p:nvPr/>
        </p:nvSpPr>
        <p:spPr>
          <a:xfrm>
            <a:off x="169332" y="1435431"/>
            <a:ext cx="7403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1">
                <a:solidFill>
                  <a:schemeClr val="accent1"/>
                </a:solidFill>
                <a:latin typeface="+mn-ea"/>
              </a:rPr>
              <a:t>Substrate blockages in conveyance duct</a:t>
            </a:r>
            <a:endParaRPr lang="de-DE" sz="2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60A033B-4126-2E52-4EAC-A8C50D5A59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80" t="15575" r="-1" b="15712"/>
          <a:stretch>
            <a:fillRect/>
          </a:stretch>
        </p:blipFill>
        <p:spPr>
          <a:xfrm rot="5400000">
            <a:off x="7964869" y="2424093"/>
            <a:ext cx="4245681" cy="3428341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C8BDCFE9-CD7D-1EDD-A2F4-3A6F1B17D2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01938" y="2513952"/>
            <a:ext cx="4262153" cy="3196615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C498B295-BE20-542F-6018-054B07B919A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6" t="21790" b="27839"/>
          <a:stretch>
            <a:fillRect/>
          </a:stretch>
        </p:blipFill>
        <p:spPr>
          <a:xfrm>
            <a:off x="8415267" y="1998301"/>
            <a:ext cx="3374890" cy="4227913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E55A8166-6696-1DBB-67BF-1BE6A4192D3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39967" y="2513950"/>
            <a:ext cx="4262155" cy="319661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67856953-54D3-085F-9A94-A28B96993A7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4" t="19031" r="9037" b="20728"/>
          <a:stretch>
            <a:fillRect/>
          </a:stretch>
        </p:blipFill>
        <p:spPr>
          <a:xfrm>
            <a:off x="8400264" y="1950765"/>
            <a:ext cx="3374890" cy="425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321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6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/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/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13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7D86FB9D-1F62-0B9D-7AB6-ACCC33B125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372FCC1A-8241-C22E-6411-BD1E675BC471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7135298B-1A44-0AE7-5BEA-4F5C1D268381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5363B84B-8AEA-0693-21A5-C10B86623107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A0F6956-7FAE-5327-69D2-4F9113A0D45A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C4DDAE89-6FDE-7F28-C6F9-9C8445E1ECA0}"/>
              </a:ext>
            </a:extLst>
          </p:cNvPr>
          <p:cNvSpPr/>
          <p:nvPr/>
        </p:nvSpPr>
        <p:spPr bwMode="auto">
          <a:xfrm>
            <a:off x="4938830" y="614663"/>
            <a:ext cx="2342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82C7CBB2-C6F3-B2C4-C52C-4D897D77DF2A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3E474360-E3EF-4122-FB1F-3678B1B5B573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Deliverables – Technical Drawings, User Manual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EE63E4B-1727-63BB-3787-6DADE528F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616813" y="2743998"/>
            <a:ext cx="3875592" cy="204939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BEDC61B-6516-95E9-75C3-B0740C966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98" y="1757091"/>
            <a:ext cx="2685096" cy="39095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977D24EF-168D-E8DE-1BE6-76706ADFC1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27" b="1919"/>
          <a:stretch>
            <a:fillRect/>
          </a:stretch>
        </p:blipFill>
        <p:spPr>
          <a:xfrm>
            <a:off x="5892800" y="1757091"/>
            <a:ext cx="5731960" cy="405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9996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54C73-46F5-7B53-9662-481BAA1C7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FB6D48E3-BAB0-6866-39EB-64F9C1EE5A32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6F20C0A5-A653-EEF6-E815-923EA6444301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14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0410F58A-95E4-C615-928F-2C6AD4A3B3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92C37422-7EC1-EC7C-6102-153E0984AA42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50682A5F-2B45-A888-CFA5-2FC566A3C64E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2B9C2C7B-9CE2-E8FD-4271-78F100BE1025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B5A7377C-629A-AAC4-0F58-7A8DCD69ED8F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1E552648-6B6F-DA79-C107-BA40C8273DB0}"/>
              </a:ext>
            </a:extLst>
          </p:cNvPr>
          <p:cNvSpPr/>
          <p:nvPr/>
        </p:nvSpPr>
        <p:spPr bwMode="auto">
          <a:xfrm>
            <a:off x="4938830" y="614663"/>
            <a:ext cx="2342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2BCAF9C-59C3-017D-61B8-503F9F3FFBFE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90DA7AA4-49B0-BE91-7E9D-D105D889D7BA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Mixing – Longitudinal Transport Efficiency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339A2F5-10CB-66FA-4B68-701CD6C4AA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78" y="1830900"/>
            <a:ext cx="4696093" cy="352207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3B0D51C-1B3A-6672-C1D6-B888B1F8FEC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636" y="1830901"/>
            <a:ext cx="4696094" cy="352207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6532C27-3A89-4D32-487B-D67EF0713EA5}"/>
              </a:ext>
            </a:extLst>
          </p:cNvPr>
          <p:cNvSpPr txBox="1"/>
          <p:nvPr/>
        </p:nvSpPr>
        <p:spPr>
          <a:xfrm>
            <a:off x="2518258" y="5563332"/>
            <a:ext cx="6989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noProof="1">
                <a:solidFill>
                  <a:srgbClr val="1F407A"/>
                </a:solidFill>
                <a:latin typeface="+mn-ea"/>
              </a:rPr>
              <a:t>Equalized fill height already after five agitator rotations.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noProof="1">
                <a:solidFill>
                  <a:srgbClr val="1F407A"/>
                </a:solidFill>
                <a:latin typeface="+mn-ea"/>
              </a:rPr>
              <a:t>Rapid, bidirectional longitudinal transport.</a:t>
            </a:r>
          </a:p>
        </p:txBody>
      </p:sp>
    </p:spTree>
    <p:extLst>
      <p:ext uri="{BB962C8B-B14F-4D97-AF65-F5344CB8AC3E}">
        <p14:creationId xmlns:p14="http://schemas.microsoft.com/office/powerpoint/2010/main" val="1150760976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4DD1-0049-AC46-1B2A-8F0768FA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3CC0AA2E-181E-2C11-161C-EF2133762FCD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037FD564-138A-ED1C-D657-DA6EF5633E1F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15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268F906E-2A26-4A6E-A3C6-3D1BC0A8C9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3C545C4D-4AEC-CF61-5ADD-81384C99105A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2BBC0A81-5090-4F77-FDAE-31EC1AD047FF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6A345E0D-9966-E11A-3C68-82D450E983A3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DCC798E-9C47-E856-BE46-59E4285F51D2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ECC4E33-7F71-6B3B-B27B-998032EF8E87}"/>
              </a:ext>
            </a:extLst>
          </p:cNvPr>
          <p:cNvSpPr/>
          <p:nvPr/>
        </p:nvSpPr>
        <p:spPr bwMode="auto">
          <a:xfrm>
            <a:off x="4938830" y="614663"/>
            <a:ext cx="2342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BDB23257-CF9B-F5B1-791E-7594E92A1367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DF6763A4-C87E-F88E-1977-6A440F24F8F0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Watering – Nozzle Outflow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CEE6B7C-324D-8DE6-EF34-B592942DAD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042" y="1685805"/>
            <a:ext cx="6288365" cy="440185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C3142B1-7C88-B832-27DC-77AA73F794FD}"/>
              </a:ext>
            </a:extLst>
          </p:cNvPr>
          <p:cNvSpPr txBox="1"/>
          <p:nvPr/>
        </p:nvSpPr>
        <p:spPr>
          <a:xfrm>
            <a:off x="509844" y="2594071"/>
            <a:ext cx="44289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noProof="1">
                <a:solidFill>
                  <a:srgbClr val="1F407A"/>
                </a:solidFill>
                <a:latin typeface="+mn-ea"/>
              </a:rPr>
              <a:t>Manufacturing inaccurancies dominate.</a:t>
            </a:r>
            <a:br>
              <a:rPr lang="en-GB" noProof="1">
                <a:solidFill>
                  <a:srgbClr val="1F407A"/>
                </a:solidFill>
                <a:latin typeface="+mn-ea"/>
              </a:rPr>
            </a:br>
            <a:endParaRPr lang="en-GB" noProof="1">
              <a:solidFill>
                <a:srgbClr val="1F407A"/>
              </a:solidFill>
              <a:latin typeface="+mn-ea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GB" noProof="1">
                <a:solidFill>
                  <a:srgbClr val="1F407A"/>
                </a:solidFill>
                <a:latin typeface="+mn-ea"/>
              </a:rPr>
              <a:t>10% drop threshold not reached (3mm bore).</a:t>
            </a:r>
            <a:br>
              <a:rPr lang="en-GB" noProof="1">
                <a:solidFill>
                  <a:srgbClr val="1F407A"/>
                </a:solidFill>
                <a:latin typeface="+mn-ea"/>
              </a:rPr>
            </a:br>
            <a:endParaRPr lang="en-GB" noProof="1">
              <a:solidFill>
                <a:srgbClr val="1F407A"/>
              </a:solidFill>
              <a:latin typeface="+mn-ea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GB" noProof="1">
                <a:solidFill>
                  <a:srgbClr val="1F407A"/>
                </a:solidFill>
                <a:latin typeface="+mn-ea"/>
              </a:rPr>
              <a:t>Total outflow increased:</a:t>
            </a:r>
            <a:br>
              <a:rPr lang="en-GB" noProof="1">
                <a:solidFill>
                  <a:srgbClr val="1F407A"/>
                </a:solidFill>
                <a:latin typeface="+mn-ea"/>
              </a:rPr>
            </a:br>
            <a:r>
              <a:rPr lang="en-GB" noProof="1">
                <a:solidFill>
                  <a:srgbClr val="1F407A"/>
                </a:solidFill>
                <a:latin typeface="+mn-ea"/>
              </a:rPr>
              <a:t>4.21 L/min (2.5mm bore) to</a:t>
            </a:r>
            <a:br>
              <a:rPr lang="en-GB" noProof="1">
                <a:solidFill>
                  <a:srgbClr val="1F407A"/>
                </a:solidFill>
                <a:latin typeface="+mn-ea"/>
              </a:rPr>
            </a:br>
            <a:r>
              <a:rPr lang="en-GB" noProof="1">
                <a:solidFill>
                  <a:srgbClr val="1F407A"/>
                </a:solidFill>
                <a:latin typeface="+mn-ea"/>
              </a:rPr>
              <a:t>5.13 L/min (3.0mm bore)</a:t>
            </a:r>
          </a:p>
        </p:txBody>
      </p:sp>
    </p:spTree>
    <p:extLst>
      <p:ext uri="{BB962C8B-B14F-4D97-AF65-F5344CB8AC3E}">
        <p14:creationId xmlns:p14="http://schemas.microsoft.com/office/powerpoint/2010/main" val="2209807748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56E9-732D-B3B9-9664-CBA33021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601A3927-B33A-88C3-9688-D24A7849B8F5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69EC17E6-CB78-0458-E3EB-83D9C04D4064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16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26252CD7-B6D7-85EA-A8E1-E253A205E0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60C669BF-9F25-1D0A-F188-06917E35AFBB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71784AC7-1FC9-B318-4E9E-250444AB5D4D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AE7D9966-29BA-2A2D-AB79-8CD388F0A74D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797A77CA-E1E2-F5E2-F66B-C3F427D70BB9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E3D94B45-9C81-BDC7-8F25-FB386E124AB1}"/>
              </a:ext>
            </a:extLst>
          </p:cNvPr>
          <p:cNvSpPr/>
          <p:nvPr/>
        </p:nvSpPr>
        <p:spPr bwMode="auto">
          <a:xfrm>
            <a:off x="4938830" y="614663"/>
            <a:ext cx="2342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13916AFD-A7A2-C9BB-17DA-CEBDBCA730E7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9FAA2DB8-6F86-BC54-83F5-E8E69AD52F1F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Mixing &amp; Watering – Water Content Distribution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5B1F71B-FB84-239F-8771-50481442D2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83" y="1507732"/>
            <a:ext cx="7794860" cy="4676916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DBE8440-42BB-23AD-4513-AB392FD3E9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83" y="1520796"/>
            <a:ext cx="7773087" cy="466385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63F47239-4A14-C321-9E87-D4FFF6177849}"/>
              </a:ext>
            </a:extLst>
          </p:cNvPr>
          <p:cNvSpPr txBox="1"/>
          <p:nvPr/>
        </p:nvSpPr>
        <p:spPr>
          <a:xfrm>
            <a:off x="8871781" y="2013035"/>
            <a:ext cx="2601190" cy="369332"/>
          </a:xfrm>
          <a:prstGeom prst="rect">
            <a:avLst/>
          </a:prstGeom>
          <a:noFill/>
          <a:ln w="28575">
            <a:solidFill>
              <a:srgbClr val="1F407A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F407A"/>
                </a:solidFill>
                <a:latin typeface="+mn-ea"/>
              </a:rPr>
              <a:t>(69.50 ± 0.41) </a:t>
            </a:r>
            <a:r>
              <a:rPr lang="de-DE" dirty="0" err="1">
                <a:solidFill>
                  <a:srgbClr val="1F407A"/>
                </a:solidFill>
                <a:latin typeface="+mn-ea"/>
              </a:rPr>
              <a:t>wt</a:t>
            </a:r>
            <a:r>
              <a:rPr lang="de-DE" dirty="0">
                <a:solidFill>
                  <a:srgbClr val="1F407A"/>
                </a:solidFill>
                <a:latin typeface="+mn-ea"/>
              </a:rPr>
              <a:t>%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58E43EA-2F3F-79FD-80A7-76DAFFBE8BE2}"/>
              </a:ext>
            </a:extLst>
          </p:cNvPr>
          <p:cNvSpPr txBox="1"/>
          <p:nvPr/>
        </p:nvSpPr>
        <p:spPr>
          <a:xfrm>
            <a:off x="8831407" y="2903207"/>
            <a:ext cx="2635981" cy="369332"/>
          </a:xfrm>
          <a:prstGeom prst="rect">
            <a:avLst/>
          </a:prstGeom>
          <a:noFill/>
          <a:ln w="28575">
            <a:solidFill>
              <a:srgbClr val="1F407A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F407A"/>
                </a:solidFill>
                <a:latin typeface="+mn-ea"/>
              </a:rPr>
              <a:t>(69.55 ± 0.62) </a:t>
            </a:r>
            <a:r>
              <a:rPr lang="de-DE" dirty="0" err="1">
                <a:solidFill>
                  <a:srgbClr val="1F407A"/>
                </a:solidFill>
                <a:latin typeface="+mn-ea"/>
              </a:rPr>
              <a:t>wt</a:t>
            </a:r>
            <a:r>
              <a:rPr lang="de-DE" dirty="0">
                <a:solidFill>
                  <a:srgbClr val="1F407A"/>
                </a:solidFill>
                <a:latin typeface="+mn-ea"/>
              </a:rPr>
              <a:t>%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41B6708-4AF7-6CDF-0D3F-1B051F45EAB4}"/>
              </a:ext>
            </a:extLst>
          </p:cNvPr>
          <p:cNvSpPr txBox="1"/>
          <p:nvPr/>
        </p:nvSpPr>
        <p:spPr>
          <a:xfrm>
            <a:off x="8831407" y="1674481"/>
            <a:ext cx="1567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1">
                <a:solidFill>
                  <a:srgbClr val="1F407A"/>
                </a:solidFill>
                <a:latin typeface="+mn-ea"/>
              </a:rPr>
              <a:t>Mixing Vessel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C755262-13E8-90FC-E5B2-154D74A47E73}"/>
              </a:ext>
            </a:extLst>
          </p:cNvPr>
          <p:cNvSpPr txBox="1"/>
          <p:nvPr/>
        </p:nvSpPr>
        <p:spPr>
          <a:xfrm>
            <a:off x="8831408" y="2564653"/>
            <a:ext cx="1729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1">
                <a:solidFill>
                  <a:srgbClr val="1F407A"/>
                </a:solidFill>
                <a:latin typeface="+mn-ea"/>
              </a:rPr>
              <a:t>Portioned Bags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2B34FAA-CAF1-43D7-D66C-3013E00223CE}"/>
              </a:ext>
            </a:extLst>
          </p:cNvPr>
          <p:cNvSpPr txBox="1"/>
          <p:nvPr/>
        </p:nvSpPr>
        <p:spPr>
          <a:xfrm>
            <a:off x="8825825" y="3454825"/>
            <a:ext cx="2520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1">
                <a:solidFill>
                  <a:srgbClr val="1F407A"/>
                </a:solidFill>
                <a:latin typeface="+mn-ea"/>
              </a:rPr>
              <a:t>Samples deviation (5’)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317A587-3D1C-19E7-2525-E5B247589062}"/>
              </a:ext>
            </a:extLst>
          </p:cNvPr>
          <p:cNvSpPr txBox="1"/>
          <p:nvPr/>
        </p:nvSpPr>
        <p:spPr>
          <a:xfrm>
            <a:off x="8831407" y="3759516"/>
            <a:ext cx="2635981" cy="369332"/>
          </a:xfrm>
          <a:prstGeom prst="rect">
            <a:avLst/>
          </a:prstGeom>
          <a:noFill/>
          <a:ln w="28575">
            <a:solidFill>
              <a:srgbClr val="1F407A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F407A"/>
                </a:solidFill>
                <a:latin typeface="+mn-ea"/>
              </a:rPr>
              <a:t>(0.45 ± 0.06) </a:t>
            </a:r>
            <a:r>
              <a:rPr lang="de-DE" dirty="0" err="1">
                <a:solidFill>
                  <a:srgbClr val="1F407A"/>
                </a:solidFill>
                <a:latin typeface="+mn-ea"/>
              </a:rPr>
              <a:t>wt</a:t>
            </a:r>
            <a:r>
              <a:rPr lang="de-DE" dirty="0">
                <a:solidFill>
                  <a:srgbClr val="1F407A"/>
                </a:solidFill>
                <a:latin typeface="+mn-ea"/>
              </a:rPr>
              <a:t>%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6742CFB-5970-4EA7-703A-F9F2606B2F75}"/>
              </a:ext>
            </a:extLst>
          </p:cNvPr>
          <p:cNvSpPr txBox="1"/>
          <p:nvPr/>
        </p:nvSpPr>
        <p:spPr>
          <a:xfrm>
            <a:off x="8481770" y="4433539"/>
            <a:ext cx="352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noProof="1">
                <a:solidFill>
                  <a:srgbClr val="1F407A"/>
                </a:solidFill>
                <a:latin typeface="+mn-ea"/>
              </a:rPr>
              <a:t>Water content very homogeneous distributed.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BE12C0B-DC83-D86E-6039-D1A5C102C62C}"/>
              </a:ext>
            </a:extLst>
          </p:cNvPr>
          <p:cNvSpPr txBox="1"/>
          <p:nvPr/>
        </p:nvSpPr>
        <p:spPr>
          <a:xfrm>
            <a:off x="8503543" y="5185893"/>
            <a:ext cx="3525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noProof="1">
                <a:solidFill>
                  <a:srgbClr val="1F407A"/>
                </a:solidFill>
                <a:latin typeface="+mn-ea"/>
              </a:rPr>
              <a:t>Water content between 60-70 wt% reached.</a:t>
            </a:r>
          </a:p>
        </p:txBody>
      </p:sp>
    </p:spTree>
    <p:extLst>
      <p:ext uri="{BB962C8B-B14F-4D97-AF65-F5344CB8AC3E}">
        <p14:creationId xmlns:p14="http://schemas.microsoft.com/office/powerpoint/2010/main" val="608957131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8AE5-FA9C-DD92-8E41-B4A04925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2B1B6A89-39E3-A5DE-67A5-92F536F77B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43"/>
          <a:stretch>
            <a:fillRect/>
          </a:stretch>
        </p:blipFill>
        <p:spPr>
          <a:xfrm>
            <a:off x="2207419" y="2616200"/>
            <a:ext cx="7772400" cy="1658476"/>
          </a:xfrm>
          <a:prstGeom prst="rect">
            <a:avLst/>
          </a:prstGeom>
        </p:spPr>
      </p:pic>
      <p:sp>
        <p:nvSpPr>
          <p:cNvPr id="275" name="CustomShape 3">
            <a:extLst>
              <a:ext uri="{FF2B5EF4-FFF2-40B4-BE49-F238E27FC236}">
                <a16:creationId xmlns:a16="http://schemas.microsoft.com/office/drawing/2014/main" id="{6C3A2689-934E-37E7-C595-07F66C29D745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CC94553D-032D-338D-6589-7710BB4A4BA8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17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17A08796-B061-A3DF-EA4B-7D0639FBDB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66888492-310A-55E4-11DC-AAFC349A1BE6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9D5213EE-10CD-9069-D1CE-BBFA8E45CE6C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A3221F3C-E17D-DCA4-4A48-12D7DF478109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AE3304DF-6FAB-7F32-6B97-42376E67E44F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81C8E59F-7651-CDCB-C547-72DFC52B86FC}"/>
              </a:ext>
            </a:extLst>
          </p:cNvPr>
          <p:cNvSpPr/>
          <p:nvPr/>
        </p:nvSpPr>
        <p:spPr bwMode="auto">
          <a:xfrm>
            <a:off x="4938830" y="614663"/>
            <a:ext cx="2342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CAD34DA-5674-8C53-7D8C-6C6E7022789F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A4688A0D-C886-F28F-C738-4C6F905D4FB3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Portioning – Bagging Performance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ahmen 9">
            <a:extLst>
              <a:ext uri="{FF2B5EF4-FFF2-40B4-BE49-F238E27FC236}">
                <a16:creationId xmlns:a16="http://schemas.microsoft.com/office/drawing/2014/main" id="{951F1389-7B81-289F-8F36-BDA7FFD0D761}"/>
              </a:ext>
            </a:extLst>
          </p:cNvPr>
          <p:cNvSpPr/>
          <p:nvPr/>
        </p:nvSpPr>
        <p:spPr>
          <a:xfrm>
            <a:off x="6429374" y="3309257"/>
            <a:ext cx="904875" cy="301522"/>
          </a:xfrm>
          <a:prstGeom prst="fram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Rahmen 10">
            <a:extLst>
              <a:ext uri="{FF2B5EF4-FFF2-40B4-BE49-F238E27FC236}">
                <a16:creationId xmlns:a16="http://schemas.microsoft.com/office/drawing/2014/main" id="{8B7EB492-E8CF-1F3D-6EBF-B5F8F3213F17}"/>
              </a:ext>
            </a:extLst>
          </p:cNvPr>
          <p:cNvSpPr/>
          <p:nvPr/>
        </p:nvSpPr>
        <p:spPr>
          <a:xfrm>
            <a:off x="6429375" y="3865309"/>
            <a:ext cx="904875" cy="271462"/>
          </a:xfrm>
          <a:prstGeom prst="fram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920DB76-8AA5-E181-B254-FE8E3C65F98E}"/>
              </a:ext>
            </a:extLst>
          </p:cNvPr>
          <p:cNvSpPr txBox="1"/>
          <p:nvPr/>
        </p:nvSpPr>
        <p:spPr>
          <a:xfrm>
            <a:off x="3645073" y="4859888"/>
            <a:ext cx="4735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noProof="1">
                <a:solidFill>
                  <a:srgbClr val="1F407A"/>
                </a:solidFill>
                <a:latin typeface="+mn-ea"/>
              </a:rPr>
              <a:t>Diffuser can reach ±10% threshold.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noProof="1">
                <a:solidFill>
                  <a:srgbClr val="1F407A"/>
                </a:solidFill>
                <a:latin typeface="+mn-ea"/>
              </a:rPr>
              <a:t>Sensitive to user errors.</a:t>
            </a:r>
          </a:p>
        </p:txBody>
      </p:sp>
    </p:spTree>
    <p:extLst>
      <p:ext uri="{BB962C8B-B14F-4D97-AF65-F5344CB8AC3E}">
        <p14:creationId xmlns:p14="http://schemas.microsoft.com/office/powerpoint/2010/main" val="39017743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/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/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18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7D86FB9D-1F62-0B9D-7AB6-ACCC33B125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372FCC1A-8241-C22E-6411-BD1E675BC471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7135298B-1A44-0AE7-5BEA-4F5C1D268381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1" name="CustomShape 9">
            <a:extLst>
              <a:ext uri="{FF2B5EF4-FFF2-40B4-BE49-F238E27FC236}">
                <a16:creationId xmlns:a16="http://schemas.microsoft.com/office/drawing/2014/main" id="{780F2D70-8566-B7DE-A62C-A7702E4D425D}"/>
              </a:ext>
            </a:extLst>
          </p:cNvPr>
          <p:cNvSpPr/>
          <p:nvPr/>
        </p:nvSpPr>
        <p:spPr>
          <a:xfrm>
            <a:off x="8046009" y="2625136"/>
            <a:ext cx="4448849" cy="20298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r>
              <a:rPr lang="en-US" sz="1800" b="1" strike="noStrike" spc="-1" dirty="0">
                <a:solidFill>
                  <a:srgbClr val="1F407A"/>
                </a:solidFill>
                <a:uFillTx/>
                <a:latin typeface="+mj-ea"/>
                <a:ea typeface="+mj-ea"/>
                <a:cs typeface="Times New Roman" panose="02020603050405020304" pitchFamily="18" charset="0"/>
              </a:rPr>
              <a:t>Hand-driven, low-cost mechanical solutions can successfully standardize substrate processing.</a:t>
            </a:r>
          </a:p>
          <a:p>
            <a:endParaRPr lang="en-US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spc="-1" dirty="0">
                <a:solidFill>
                  <a:srgbClr val="1F407A"/>
                </a:solidFill>
                <a:latin typeface="+mj-ea"/>
                <a:cs typeface="Times New Roman" panose="02020603050405020304" pitchFamily="18" charset="0"/>
              </a:rPr>
              <a:t>Big reduction of labor estimated.</a:t>
            </a:r>
            <a:endParaRPr lang="en-US" sz="1600" spc="-1" dirty="0">
              <a:latin typeface="+mj-ea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1800" strike="noStrike" spc="-1" dirty="0">
                <a:solidFill>
                  <a:srgbClr val="1F407A"/>
                </a:solidFill>
                <a:uFillTx/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endParaRPr lang="en-US" sz="1600" strike="noStrike" spc="-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A0F6956-7FAE-5327-69D2-4F9113A0D45A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4264308-D800-8B6B-EF5F-EC6946A53BDE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4D20DF21-A9A4-97B0-41FC-208CD0A50A64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9AF8F474-2B27-C372-8942-11CEB7F53AC6}"/>
              </a:ext>
            </a:extLst>
          </p:cNvPr>
          <p:cNvSpPr/>
          <p:nvPr/>
        </p:nvSpPr>
        <p:spPr bwMode="auto">
          <a:xfrm>
            <a:off x="4938830" y="614663"/>
            <a:ext cx="2342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D7622EA-CCF6-B3F5-D66D-C5EA7474E7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2" r="4827" b="18271"/>
          <a:stretch>
            <a:fillRect/>
          </a:stretch>
        </p:blipFill>
        <p:spPr>
          <a:xfrm rot="5400000">
            <a:off x="3875964" y="2320213"/>
            <a:ext cx="4351738" cy="337311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921D16F-0D16-0AF5-3A8F-B60F6A06AC0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" t="-468" r="-423" b="24830"/>
          <a:stretch>
            <a:fillRect/>
          </a:stretch>
        </p:blipFill>
        <p:spPr>
          <a:xfrm>
            <a:off x="519414" y="1830900"/>
            <a:ext cx="3342322" cy="4351738"/>
          </a:xfrm>
          <a:prstGeom prst="rect">
            <a:avLst/>
          </a:prstGeom>
        </p:spPr>
      </p:pic>
      <p:sp>
        <p:nvSpPr>
          <p:cNvPr id="13" name="CustomShape 5">
            <a:extLst>
              <a:ext uri="{FF2B5EF4-FFF2-40B4-BE49-F238E27FC236}">
                <a16:creationId xmlns:a16="http://schemas.microsoft.com/office/drawing/2014/main" id="{D9792CB6-28C9-41E6-3B6A-9B7A76A61EF3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Working Prototype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Pfeil nach rechts 4">
            <a:extLst>
              <a:ext uri="{FF2B5EF4-FFF2-40B4-BE49-F238E27FC236}">
                <a16:creationId xmlns:a16="http://schemas.microsoft.com/office/drawing/2014/main" id="{2294A47A-1FA7-425C-A402-59B2E7D14846}"/>
              </a:ext>
            </a:extLst>
          </p:cNvPr>
          <p:cNvSpPr/>
          <p:nvPr/>
        </p:nvSpPr>
        <p:spPr>
          <a:xfrm>
            <a:off x="3501203" y="1830900"/>
            <a:ext cx="1242204" cy="955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+mn-ea"/>
            </a:endParaRPr>
          </a:p>
        </p:txBody>
      </p:sp>
      <p:sp>
        <p:nvSpPr>
          <p:cNvPr id="11" name="Pfeil nach rechts 10">
            <a:extLst>
              <a:ext uri="{FF2B5EF4-FFF2-40B4-BE49-F238E27FC236}">
                <a16:creationId xmlns:a16="http://schemas.microsoft.com/office/drawing/2014/main" id="{ADEA5DCE-12CC-B8C2-B2A5-FCACCA4C7B94}"/>
              </a:ext>
            </a:extLst>
          </p:cNvPr>
          <p:cNvSpPr/>
          <p:nvPr/>
        </p:nvSpPr>
        <p:spPr>
          <a:xfrm>
            <a:off x="3501203" y="5227608"/>
            <a:ext cx="1242204" cy="955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13156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14B56-AD99-790C-97DD-AEC1C33D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BC8F5068-75BE-AB62-C5CE-1A69AC89DAC3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866A9997-E74A-41C0-7FC6-8C41929C23A0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19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4C93EDB6-182B-CC1C-CD54-A6CF078A50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11EA02C8-3E82-CABD-6C4C-52EAB6C809D2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3930B3BB-49AB-EEDC-33DC-AAB496BC4B00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9CE2EFE6-279A-E80C-ABE8-DC6F6DFF8198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F69C6F4-A01A-F4F6-351D-685E3B953E1D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33">
            <a:extLst>
              <a:ext uri="{FF2B5EF4-FFF2-40B4-BE49-F238E27FC236}">
                <a16:creationId xmlns:a16="http://schemas.microsoft.com/office/drawing/2014/main" id="{B35544CB-94EC-830C-F456-047803F69713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4EA8D3BA-73C0-DA49-DCE1-08D1AFD8583B}"/>
              </a:ext>
            </a:extLst>
          </p:cNvPr>
          <p:cNvSpPr/>
          <p:nvPr/>
        </p:nvSpPr>
        <p:spPr bwMode="auto">
          <a:xfrm>
            <a:off x="4938830" y="614663"/>
            <a:ext cx="234216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CustomShape 5">
            <a:extLst>
              <a:ext uri="{FF2B5EF4-FFF2-40B4-BE49-F238E27FC236}">
                <a16:creationId xmlns:a16="http://schemas.microsoft.com/office/drawing/2014/main" id="{830828AA-43F4-B22F-6E44-6A401DAB7006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Outlook – Recommendations</a:t>
            </a:r>
            <a:endParaRPr lang="en-US" sz="2800" b="0" strike="noStrike" spc="-1" dirty="0">
              <a:solidFill>
                <a:srgbClr val="1F407A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5D4C3E5-EEFD-6332-3793-100E122ED7F8}"/>
              </a:ext>
            </a:extLst>
          </p:cNvPr>
          <p:cNvSpPr txBox="1"/>
          <p:nvPr/>
        </p:nvSpPr>
        <p:spPr>
          <a:xfrm>
            <a:off x="744722" y="2309388"/>
            <a:ext cx="9455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sz="2400" b="1" noProof="1">
                <a:solidFill>
                  <a:schemeClr val="accent1"/>
                </a:solidFill>
                <a:latin typeface="+mn-ea"/>
              </a:rPr>
              <a:t>Field Validation in Uganda: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400" noProof="1">
                <a:solidFill>
                  <a:schemeClr val="accent1"/>
                </a:solidFill>
                <a:latin typeface="+mn-ea"/>
              </a:rPr>
              <a:t>Analysis of user acceptance, reproducibility, durability.</a:t>
            </a:r>
          </a:p>
        </p:txBody>
      </p:sp>
    </p:spTree>
    <p:extLst>
      <p:ext uri="{BB962C8B-B14F-4D97-AF65-F5344CB8AC3E}">
        <p14:creationId xmlns:p14="http://schemas.microsoft.com/office/powerpoint/2010/main" val="12516525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62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57E8-CE38-D19E-564A-5B1A1929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ustomShape 3">
            <a:extLst>
              <a:ext uri="{FF2B5EF4-FFF2-40B4-BE49-F238E27FC236}">
                <a16:creationId xmlns:a16="http://schemas.microsoft.com/office/drawing/2014/main" id="{80D44619-8736-C191-E68C-C8CE072430BB}"/>
              </a:ext>
            </a:extLst>
          </p:cNvPr>
          <p:cNvSpPr/>
          <p:nvPr/>
        </p:nvSpPr>
        <p:spPr>
          <a:xfrm>
            <a:off x="6094440" y="6317876"/>
            <a:ext cx="4630680" cy="45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de-DE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Peter Siegenthaler</a:t>
            </a:r>
            <a:endParaRPr lang="de-DE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76" name="CustomShape 4">
            <a:extLst>
              <a:ext uri="{FF2B5EF4-FFF2-40B4-BE49-F238E27FC236}">
                <a16:creationId xmlns:a16="http://schemas.microsoft.com/office/drawing/2014/main" id="{35BA274C-9125-C28A-C9CF-EAD12295DC8D}"/>
              </a:ext>
            </a:extLst>
          </p:cNvPr>
          <p:cNvSpPr/>
          <p:nvPr/>
        </p:nvSpPr>
        <p:spPr>
          <a:xfrm>
            <a:off x="11624760" y="6308640"/>
            <a:ext cx="35424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B106FC98-4258-4F5D-BF3B-70FD84BE5205}" type="slidenum">
              <a:rPr lang="en-US" sz="800" b="0" strike="noStrike" spc="-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21</a:t>
            </a:fld>
            <a:endParaRPr lang="en-US" sz="800" b="0" strike="noStrike" spc="-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A29E0F7A-98CD-D21D-B9F5-F8FE5D680F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80" y="6391307"/>
            <a:ext cx="1198079" cy="301946"/>
          </a:xfrm>
          <a:prstGeom prst="rect">
            <a:avLst/>
          </a:prstGeom>
        </p:spPr>
      </p:pic>
      <p:sp>
        <p:nvSpPr>
          <p:cNvPr id="2" name="CustomShape 4">
            <a:extLst>
              <a:ext uri="{FF2B5EF4-FFF2-40B4-BE49-F238E27FC236}">
                <a16:creationId xmlns:a16="http://schemas.microsoft.com/office/drawing/2014/main" id="{3B73C2C7-282C-33BE-E4A6-021081251355}"/>
              </a:ext>
            </a:extLst>
          </p:cNvPr>
          <p:cNvSpPr/>
          <p:nvPr/>
        </p:nvSpPr>
        <p:spPr>
          <a:xfrm>
            <a:off x="10916640" y="6308640"/>
            <a:ext cx="610920" cy="46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/>
            <a:r>
              <a:rPr lang="en-US" sz="800" spc="-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11.06.2026</a:t>
            </a:r>
            <a:endParaRPr lang="en-US" sz="800" spc="-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1648E37B-F2E8-7076-4470-9599DA1B1B7B}"/>
              </a:ext>
            </a:extLst>
          </p:cNvPr>
          <p:cNvSpPr/>
          <p:nvPr/>
        </p:nvSpPr>
        <p:spPr bwMode="auto">
          <a:xfrm>
            <a:off x="330831" y="614664"/>
            <a:ext cx="2304000" cy="356838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DA0051CE-CBD7-FC28-D001-930320CC5929}"/>
              </a:ext>
            </a:extLst>
          </p:cNvPr>
          <p:cNvSpPr/>
          <p:nvPr/>
        </p:nvSpPr>
        <p:spPr bwMode="auto">
          <a:xfrm>
            <a:off x="7248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Results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4E180E48-DF5B-00F4-CC16-DC41CE40E3BA}"/>
              </a:ext>
            </a:extLst>
          </p:cNvPr>
          <p:cNvSpPr/>
          <p:nvPr/>
        </p:nvSpPr>
        <p:spPr bwMode="auto">
          <a:xfrm>
            <a:off x="9552407" y="614663"/>
            <a:ext cx="2304000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F7472560-C86F-DD7F-35BB-3DB490D8C6CA}"/>
              </a:ext>
            </a:extLst>
          </p:cNvPr>
          <p:cNvSpPr/>
          <p:nvPr/>
        </p:nvSpPr>
        <p:spPr bwMode="auto">
          <a:xfrm>
            <a:off x="2634831" y="614663"/>
            <a:ext cx="2303999" cy="356839"/>
          </a:xfrm>
          <a:prstGeom prst="rect">
            <a:avLst/>
          </a:prstGeom>
          <a:solidFill>
            <a:schemeClr val="bg2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572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rgbClr val="2A6AB3"/>
              </a:buClr>
              <a:buSzPct val="110000"/>
              <a:buFont typeface="Wingdings" pitchFamily="16" charset="2"/>
              <a:buNone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ea"/>
                <a:cs typeface="Times New Roman" panose="02020603050405020304" pitchFamily="18" charset="0"/>
              </a:rPr>
              <a:t>Goals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F474F13-DB82-F8CF-68EB-C7A23AADD3C9}"/>
              </a:ext>
            </a:extLst>
          </p:cNvPr>
          <p:cNvSpPr/>
          <p:nvPr/>
        </p:nvSpPr>
        <p:spPr bwMode="auto">
          <a:xfrm>
            <a:off x="4938830" y="614663"/>
            <a:ext cx="2342170" cy="3568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algn="ctr">
              <a:spcBef>
                <a:spcPts val="600"/>
              </a:spcBef>
              <a:buClr>
                <a:srgbClr val="2A6AB3"/>
              </a:buClr>
              <a:buSzPct val="110000"/>
            </a:pPr>
            <a:r>
              <a:rPr lang="en-US" sz="16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Methods</a:t>
            </a:r>
            <a:endParaRPr kumimoji="0" lang="de-DE" sz="1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57D263D9-15DD-D56F-5844-A522E3239AC0}"/>
              </a:ext>
            </a:extLst>
          </p:cNvPr>
          <p:cNvSpPr/>
          <p:nvPr/>
        </p:nvSpPr>
        <p:spPr>
          <a:xfrm>
            <a:off x="169332" y="971502"/>
            <a:ext cx="11687075" cy="502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00" tIns="54000" rIns="14400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1F407A"/>
                </a:solidFill>
                <a:latin typeface="+mj-ea"/>
                <a:ea typeface="+mj-ea"/>
                <a:cs typeface="Times New Roman" panose="02020603050405020304" pitchFamily="18" charset="0"/>
              </a:rPr>
              <a:t>Final Prototype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93B0822-B3D6-05C7-9824-ADCCD74026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118" y="1469846"/>
            <a:ext cx="6843501" cy="483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9671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F407A"/>
      </a:accent1>
      <a:accent2>
        <a:srgbClr val="435F8F"/>
      </a:accent2>
      <a:accent3>
        <a:srgbClr val="677DA5"/>
      </a:accent3>
      <a:accent4>
        <a:srgbClr val="8B9CBA"/>
      </a:accent4>
      <a:accent5>
        <a:srgbClr val="AEBACF"/>
      </a:accent5>
      <a:accent6>
        <a:srgbClr val="D2D9E4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F407A"/>
      </a:accent1>
      <a:accent2>
        <a:srgbClr val="435F8F"/>
      </a:accent2>
      <a:accent3>
        <a:srgbClr val="677DA5"/>
      </a:accent3>
      <a:accent4>
        <a:srgbClr val="8B9CBA"/>
      </a:accent4>
      <a:accent5>
        <a:srgbClr val="AEBACF"/>
      </a:accent5>
      <a:accent6>
        <a:srgbClr val="D2D9E4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1F407A"/>
      </a:accent1>
      <a:accent2>
        <a:srgbClr val="435F8F"/>
      </a:accent2>
      <a:accent3>
        <a:srgbClr val="677DA5"/>
      </a:accent3>
      <a:accent4>
        <a:srgbClr val="8B9CBA"/>
      </a:accent4>
      <a:accent5>
        <a:srgbClr val="AEBACF"/>
      </a:accent5>
      <a:accent6>
        <a:srgbClr val="D2D9E4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eth_praesentation_16zu9_ETH1</Template>
  <TotalTime>0</TotalTime>
  <Words>670</Words>
  <Application>Microsoft Macintosh PowerPoint</Application>
  <PresentationFormat>Benutzerdefiniert</PresentationFormat>
  <Paragraphs>279</Paragraphs>
  <Slides>21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21</vt:i4>
      </vt:variant>
    </vt:vector>
  </HeadingPairs>
  <TitlesOfParts>
    <vt:vector size="28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Product Development of a Substrate Mixer and Portioning Device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MT2DpgdlXV@student.ethz.ch</dc:creator>
  <dc:description/>
  <cp:lastModifiedBy>Peter Siegenthaler</cp:lastModifiedBy>
  <cp:revision>407</cp:revision>
  <cp:lastPrinted>2026-06-08T13:25:13Z</cp:lastPrinted>
  <dcterms:created xsi:type="dcterms:W3CDTF">2019-10-05T17:13:10Z</dcterms:created>
  <dcterms:modified xsi:type="dcterms:W3CDTF">2026-06-10T09:32:04Z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6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